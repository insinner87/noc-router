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CDE9-889D-62FA-DC78-B09FDFD2B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B23F3-6EB6-C444-7C5A-C6A0EB97D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8B0E2-92BE-38DB-E136-0B42D83D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F6587-66C5-93AC-89DE-66959D63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B935-E7D8-DB3D-1D4F-E559BD06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4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87B8-F549-0489-B44F-1D7E9A2A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723F-92E2-3F3E-F8BB-18E8907B0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8283-1ABE-2F61-1DDC-0199CBC9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C3796-4D2B-A11A-DC7F-313C4217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46766-D75D-111D-B320-7FEDC2EC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0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8130-A409-EAC0-4252-0675DE20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C7C5B-2975-4659-55D3-9636AA7C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4B77-4492-0B0E-9D8C-EB77F94D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BB6A-AE96-92B5-1276-34DDF4E9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9E2A-EAB1-400F-6CC8-6A9684C6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04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5838-8D2A-9929-E2B1-EED20E0A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64F0-E615-C1EF-D819-50F2A840F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74644-24F0-0878-F99F-D963A4980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E10C6-7FAE-E376-D7B1-07C42F78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A9D99-D623-9399-8A22-1B0A789E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FF793-473A-2348-1C0C-EC4774F9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0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3179-F68C-4E56-3A41-9BC14335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C4547-A147-4ED2-1B94-207AF1150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FF9D6-917A-8B5F-C730-D2CB5627D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71C99-0074-96ED-9A9C-2D94511D2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906F0-4695-3529-2597-47397C3B2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7B054-AF3F-FC6B-1367-8ACA797B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C4C5-4EDC-BF60-8706-7766385D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5EB3A-9B07-1E21-9B2D-62DDD343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54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56E1-71A6-9983-FE54-152E16AE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BC841-8D3B-F999-792E-80C723F9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44ED6-CCB4-33C8-F4BE-AEB547B5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0F54-6DD7-B766-61C5-446B7A8E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29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114F1-DFEC-955A-919C-A00EE15D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E9FC5-E510-8D5E-911F-0736AEE7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752D7-83E3-2151-DAF5-58A832BB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9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A3F3-44E5-3542-69ED-A2B687F7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F117-4D7D-552E-3755-772BE808F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C7A8F-1252-F971-A586-1225AAE91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906FF-9843-6712-A759-FB6F113B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B0AB6-CB05-8AD8-BD63-E1BC7AAD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F5B9F-DD1B-2A9A-EDA8-7C8D34C3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6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D660-B94F-59A4-3FC2-B7551D3B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F3325-1A37-5BE6-3439-D02D3E408B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332CE-573A-8099-17A1-0CE7BEE27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AB571-5CD1-5360-7226-D6CB2BB4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81DE4-3E9B-1C52-5A67-3C4A8DE4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A3439-2833-FCAB-0BB1-B37686D9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05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D38C-25B1-615F-BDB6-47E328CD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A0A54-FBE2-336F-6474-0A843CF6C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3C024-58D8-75E9-7321-C52EC057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6C64A-F31B-8A4C-9F01-1842705E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3106-9FF5-4ABD-BF08-93BACF17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1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4E39C7-BD82-A14C-0426-1CE20826A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36584-E23C-3183-EA2F-2015D58C5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09165-8E85-7ADC-2FFF-A98E0DF5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58A9B-B97D-493D-CD3C-53D7DB32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EFB1F-14A6-98B8-9980-9C6B5B86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87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34B7F-04A1-0388-1589-7F20025E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97E90-BB03-F262-7F40-392622FB9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5E6DC-47DD-9384-AF9C-78153733C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CD791-107B-4571-9F45-956705C1E5A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DF7C8-D068-4AE6-B18E-84426F615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5B046-5595-DE5B-2F0A-8EDB43731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05F7-98C3-47F6-872A-415768682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1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EA7F1-1FF4-0141-17DD-047886909D95}"/>
              </a:ext>
            </a:extLst>
          </p:cNvPr>
          <p:cNvSpPr txBox="1"/>
          <p:nvPr/>
        </p:nvSpPr>
        <p:spPr>
          <a:xfrm>
            <a:off x="731520" y="594360"/>
            <a:ext cx="7315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00A99D"/>
                </a:solidFill>
                <a:latin typeface="Aptos" panose="020B0004020202020204" pitchFamily="34" charset="0"/>
              </a:rPr>
              <a:t>A FIVE-PORT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24C15-1DFC-DE34-CA7D-F86DCA2B115C}"/>
              </a:ext>
            </a:extLst>
          </p:cNvPr>
          <p:cNvSpPr txBox="1"/>
          <p:nvPr/>
        </p:nvSpPr>
        <p:spPr>
          <a:xfrm>
            <a:off x="731520" y="1024128"/>
            <a:ext cx="7863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800" b="1">
                <a:solidFill>
                  <a:srgbClr val="FFFFFF"/>
                </a:solidFill>
                <a:latin typeface="Aptos" panose="020B0004020202020204" pitchFamily="34" charset="0"/>
              </a:rPr>
              <a:t>NoC Router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41DE6-9B6A-AD37-07FD-4494A0F4A0B0}"/>
              </a:ext>
            </a:extLst>
          </p:cNvPr>
          <p:cNvSpPr txBox="1"/>
          <p:nvPr/>
        </p:nvSpPr>
        <p:spPr>
          <a:xfrm>
            <a:off x="777240" y="1975104"/>
            <a:ext cx="60350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D4DEEF"/>
                </a:solidFill>
                <a:latin typeface="Aptos" panose="020B0004020202020204" pitchFamily="34" charset="0"/>
              </a:rPr>
              <a:t>A first-year-friendly, step-by-step tour of how one flit finds its way across a chip.</a:t>
            </a:r>
            <a:endParaRPr lang="en-IN" sz="2300">
              <a:solidFill>
                <a:srgbClr val="D4DEE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2B02A1-1337-2F67-0050-F6094BDEB4D1}"/>
              </a:ext>
            </a:extLst>
          </p:cNvPr>
          <p:cNvSpPr/>
          <p:nvPr/>
        </p:nvSpPr>
        <p:spPr>
          <a:xfrm>
            <a:off x="777240" y="3090672"/>
            <a:ext cx="1508760" cy="384048"/>
          </a:xfrm>
          <a:prstGeom prst="roundRect">
            <a:avLst/>
          </a:prstGeom>
          <a:solidFill>
            <a:srgbClr val="14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734F6-BB2E-B214-5921-CE44FB67B8F9}"/>
              </a:ext>
            </a:extLst>
          </p:cNvPr>
          <p:cNvSpPr txBox="1"/>
          <p:nvPr/>
        </p:nvSpPr>
        <p:spPr>
          <a:xfrm>
            <a:off x="777240" y="3127248"/>
            <a:ext cx="15087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ONE ROUTER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59854F-62EA-0E3E-EFA3-93C39E8CC017}"/>
              </a:ext>
            </a:extLst>
          </p:cNvPr>
          <p:cNvSpPr/>
          <p:nvPr/>
        </p:nvSpPr>
        <p:spPr>
          <a:xfrm>
            <a:off x="2450592" y="3090672"/>
            <a:ext cx="1572768" cy="384048"/>
          </a:xfrm>
          <a:prstGeom prst="roundRect">
            <a:avLst/>
          </a:prstGeom>
          <a:solidFill>
            <a:srgbClr val="14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5AE61-1714-557D-AF10-8DCBDFF2A883}"/>
              </a:ext>
            </a:extLst>
          </p:cNvPr>
          <p:cNvSpPr txBox="1"/>
          <p:nvPr/>
        </p:nvSpPr>
        <p:spPr>
          <a:xfrm>
            <a:off x="2450592" y="3127248"/>
            <a:ext cx="15727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FIVE INPUTS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6D8CC4-FF29-00C1-BFD9-5150923C75C1}"/>
              </a:ext>
            </a:extLst>
          </p:cNvPr>
          <p:cNvSpPr/>
          <p:nvPr/>
        </p:nvSpPr>
        <p:spPr>
          <a:xfrm>
            <a:off x="4169664" y="3090672"/>
            <a:ext cx="1783080" cy="384048"/>
          </a:xfrm>
          <a:prstGeom prst="roundRect">
            <a:avLst/>
          </a:prstGeom>
          <a:solidFill>
            <a:srgbClr val="14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86C9A-0315-9752-59B5-A2EFE695AE22}"/>
              </a:ext>
            </a:extLst>
          </p:cNvPr>
          <p:cNvSpPr txBox="1"/>
          <p:nvPr/>
        </p:nvSpPr>
        <p:spPr>
          <a:xfrm>
            <a:off x="4169664" y="3127248"/>
            <a:ext cx="17830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FIVE OUTPUTS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8C060F-DCE8-2EF2-557C-E707EA9AEF06}"/>
              </a:ext>
            </a:extLst>
          </p:cNvPr>
          <p:cNvCxnSpPr/>
          <p:nvPr/>
        </p:nvCxnSpPr>
        <p:spPr>
          <a:xfrm flipV="1">
            <a:off x="9372600" y="1572768"/>
            <a:ext cx="0" cy="941832"/>
          </a:xfrm>
          <a:prstGeom prst="straightConnector1">
            <a:avLst/>
          </a:prstGeom>
          <a:ln w="50800">
            <a:solidFill>
              <a:srgbClr val="00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795418-255D-D6D3-E7F4-F82070A58EE6}"/>
              </a:ext>
            </a:extLst>
          </p:cNvPr>
          <p:cNvCxnSpPr/>
          <p:nvPr/>
        </p:nvCxnSpPr>
        <p:spPr>
          <a:xfrm>
            <a:off x="9372600" y="2514600"/>
            <a:ext cx="1188720" cy="0"/>
          </a:xfrm>
          <a:prstGeom prst="straightConnector1">
            <a:avLst/>
          </a:prstGeom>
          <a:ln w="50800">
            <a:solidFill>
              <a:srgbClr val="37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41CED5-C981-2B5B-B532-057D0F8556C1}"/>
              </a:ext>
            </a:extLst>
          </p:cNvPr>
          <p:cNvCxnSpPr/>
          <p:nvPr/>
        </p:nvCxnSpPr>
        <p:spPr>
          <a:xfrm>
            <a:off x="9372600" y="2514600"/>
            <a:ext cx="0" cy="1005840"/>
          </a:xfrm>
          <a:prstGeom prst="straightConnector1">
            <a:avLst/>
          </a:prstGeom>
          <a:ln w="5080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57A2DB-F8D6-B6BE-F08C-A3C2B14BD6E8}"/>
              </a:ext>
            </a:extLst>
          </p:cNvPr>
          <p:cNvCxnSpPr/>
          <p:nvPr/>
        </p:nvCxnSpPr>
        <p:spPr>
          <a:xfrm flipH="1">
            <a:off x="8165592" y="2514600"/>
            <a:ext cx="1207008" cy="0"/>
          </a:xfrm>
          <a:prstGeom prst="straightConnector1">
            <a:avLst/>
          </a:prstGeom>
          <a:ln w="50800">
            <a:solidFill>
              <a:srgbClr val="EE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2A69F8-5303-C820-8882-2BACE993157B}"/>
              </a:ext>
            </a:extLst>
          </p:cNvPr>
          <p:cNvSpPr/>
          <p:nvPr/>
        </p:nvSpPr>
        <p:spPr>
          <a:xfrm>
            <a:off x="8476488" y="2029968"/>
            <a:ext cx="1792224" cy="96012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3AA78-38FE-EEA2-38BC-E3C09199C463}"/>
              </a:ext>
            </a:extLst>
          </p:cNvPr>
          <p:cNvSpPr txBox="1"/>
          <p:nvPr/>
        </p:nvSpPr>
        <p:spPr>
          <a:xfrm>
            <a:off x="8476488" y="2267712"/>
            <a:ext cx="179222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100" b="1">
                <a:solidFill>
                  <a:srgbClr val="0B1733"/>
                </a:solidFill>
                <a:latin typeface="Aptos" panose="020B0004020202020204" pitchFamily="34" charset="0"/>
              </a:rPr>
              <a:t>ROUTER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AC77-28C3-44D0-6212-F8D00AF9602E}"/>
              </a:ext>
            </a:extLst>
          </p:cNvPr>
          <p:cNvSpPr txBox="1"/>
          <p:nvPr/>
        </p:nvSpPr>
        <p:spPr>
          <a:xfrm>
            <a:off x="8732520" y="1234440"/>
            <a:ext cx="1280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North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183F5-8AA9-77FE-B3B8-12B5E3C17992}"/>
              </a:ext>
            </a:extLst>
          </p:cNvPr>
          <p:cNvSpPr txBox="1"/>
          <p:nvPr/>
        </p:nvSpPr>
        <p:spPr>
          <a:xfrm>
            <a:off x="10515600" y="2157984"/>
            <a:ext cx="1005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East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9CCFF-60F9-06B0-A8EF-D4C7BA566BA0}"/>
              </a:ext>
            </a:extLst>
          </p:cNvPr>
          <p:cNvSpPr txBox="1"/>
          <p:nvPr/>
        </p:nvSpPr>
        <p:spPr>
          <a:xfrm>
            <a:off x="8732520" y="3639312"/>
            <a:ext cx="1280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South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7F16B6-F4A5-3F41-75F3-B7C4620CA19C}"/>
              </a:ext>
            </a:extLst>
          </p:cNvPr>
          <p:cNvSpPr txBox="1"/>
          <p:nvPr/>
        </p:nvSpPr>
        <p:spPr>
          <a:xfrm>
            <a:off x="7223760" y="2157984"/>
            <a:ext cx="1051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Local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BBA20-1DA4-B6E2-17E8-19E06D785854}"/>
              </a:ext>
            </a:extLst>
          </p:cNvPr>
          <p:cNvSpPr txBox="1"/>
          <p:nvPr/>
        </p:nvSpPr>
        <p:spPr>
          <a:xfrm>
            <a:off x="777240" y="5961888"/>
            <a:ext cx="5943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AAB8CF"/>
                </a:solidFill>
                <a:latin typeface="Aptos" panose="020B0004020202020204" pitchFamily="34" charset="0"/>
              </a:rPr>
              <a:t>RTL + self-checking simulation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B010D-2634-A647-CD50-9DBFDA292C53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AAB8CF"/>
                </a:solidFill>
                <a:latin typeface="Aptos" panose="020B0004020202020204" pitchFamily="34" charset="0"/>
              </a:rPr>
              <a:t>01 / 19</a:t>
            </a:r>
          </a:p>
        </p:txBody>
      </p:sp>
    </p:spTree>
    <p:extLst>
      <p:ext uri="{BB962C8B-B14F-4D97-AF65-F5344CB8AC3E}">
        <p14:creationId xmlns:p14="http://schemas.microsoft.com/office/powerpoint/2010/main" val="126438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94E6D-3835-6651-D6CD-D57A8A4CAB80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A6612-6085-0AF7-8DE6-9603ADB2A27B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START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AD8EE-10FF-8AFE-A7FB-10DA4A0A46FE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500" b="1">
                <a:solidFill>
                  <a:srgbClr val="FFFFFF"/>
                </a:solidFill>
                <a:latin typeface="Aptos" panose="020B0004020202020204" pitchFamily="34" charset="0"/>
              </a:rPr>
              <a:t>What did we build?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DA7F4E-888C-D7F0-C0B7-5C2AB1C182A5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EFFF0C-68FB-AAFE-6644-82ADC1C0AADB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0D445-DFB3-11C1-1E55-2AEFBDAC98A9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2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ABD347-CD32-C684-1D2D-D45C0AF3A88D}"/>
              </a:ext>
            </a:extLst>
          </p:cNvPr>
          <p:cNvSpPr/>
          <p:nvPr/>
        </p:nvSpPr>
        <p:spPr>
          <a:xfrm>
            <a:off x="594360" y="12344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EA87A7-6F18-EB7E-D2F5-D549C5A48A53}"/>
              </a:ext>
            </a:extLst>
          </p:cNvPr>
          <p:cNvSpPr/>
          <p:nvPr/>
        </p:nvSpPr>
        <p:spPr>
          <a:xfrm>
            <a:off x="685800" y="1399032"/>
            <a:ext cx="64008" cy="1499616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8EC77-179F-9F1A-A9FA-750AAF3836F0}"/>
              </a:ext>
            </a:extLst>
          </p:cNvPr>
          <p:cNvSpPr txBox="1"/>
          <p:nvPr/>
        </p:nvSpPr>
        <p:spPr>
          <a:xfrm>
            <a:off x="868680" y="139903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One small router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79446F-9E19-2EE8-76E0-30A888B83814}"/>
              </a:ext>
            </a:extLst>
          </p:cNvPr>
          <p:cNvSpPr txBox="1"/>
          <p:nvPr/>
        </p:nvSpPr>
        <p:spPr>
          <a:xfrm>
            <a:off x="868680" y="189280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It has five input sides and five output sides. It forwards a flit to the output named inside that flit.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FFFDB9-F02C-0F01-DDCC-805A74724C9E}"/>
              </a:ext>
            </a:extLst>
          </p:cNvPr>
          <p:cNvSpPr/>
          <p:nvPr/>
        </p:nvSpPr>
        <p:spPr>
          <a:xfrm>
            <a:off x="4325112" y="12344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F2386E-F684-2DD7-B115-A733C5381F0A}"/>
              </a:ext>
            </a:extLst>
          </p:cNvPr>
          <p:cNvSpPr/>
          <p:nvPr/>
        </p:nvSpPr>
        <p:spPr>
          <a:xfrm>
            <a:off x="4416552" y="1399032"/>
            <a:ext cx="64008" cy="1499616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A3BA4-1C98-0777-620E-C36A1722C09F}"/>
              </a:ext>
            </a:extLst>
          </p:cNvPr>
          <p:cNvSpPr txBox="1"/>
          <p:nvPr/>
        </p:nvSpPr>
        <p:spPr>
          <a:xfrm>
            <a:off x="4599432" y="139903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20304A"/>
                </a:solidFill>
                <a:latin typeface="Aptos" panose="020B0004020202020204" pitchFamily="34" charset="0"/>
              </a:rPr>
              <a:t>A queue at each input</a:t>
            </a:r>
            <a:endParaRPr lang="en-IN" sz="19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4F6DFD-F277-FE3D-685C-B013B242E248}"/>
              </a:ext>
            </a:extLst>
          </p:cNvPr>
          <p:cNvSpPr txBox="1"/>
          <p:nvPr/>
        </p:nvSpPr>
        <p:spPr>
          <a:xfrm>
            <a:off x="4599432" y="189280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Each input gets its own FIFO. Incoming flits wait safely instead of getting overwritten.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A0055A-60E5-7F0D-A225-1060FE728D4A}"/>
              </a:ext>
            </a:extLst>
          </p:cNvPr>
          <p:cNvSpPr/>
          <p:nvPr/>
        </p:nvSpPr>
        <p:spPr>
          <a:xfrm>
            <a:off x="8046720" y="12344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9A6B21-2797-AA91-2281-CC9A2C8FD464}"/>
              </a:ext>
            </a:extLst>
          </p:cNvPr>
          <p:cNvSpPr/>
          <p:nvPr/>
        </p:nvSpPr>
        <p:spPr>
          <a:xfrm>
            <a:off x="8138160" y="1399032"/>
            <a:ext cx="64008" cy="1499616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675A98-5FCE-E156-85B8-949830C4BFB7}"/>
              </a:ext>
            </a:extLst>
          </p:cNvPr>
          <p:cNvSpPr txBox="1"/>
          <p:nvPr/>
        </p:nvSpPr>
        <p:spPr>
          <a:xfrm>
            <a:off x="8321040" y="139903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A fair choice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A7A05-C42D-9876-E0EA-DB0850ACA4E9}"/>
              </a:ext>
            </a:extLst>
          </p:cNvPr>
          <p:cNvSpPr txBox="1"/>
          <p:nvPr/>
        </p:nvSpPr>
        <p:spPr>
          <a:xfrm>
            <a:off x="8321040" y="189280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If two inputs want the same output, round-robin arbitration lets them take turns.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6F6DAC-87F1-397E-4F47-D9F061A88910}"/>
              </a:ext>
            </a:extLst>
          </p:cNvPr>
          <p:cNvSpPr/>
          <p:nvPr/>
        </p:nvSpPr>
        <p:spPr>
          <a:xfrm>
            <a:off x="804672" y="3685032"/>
            <a:ext cx="10588752" cy="1481328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69F8C-4CA4-6BDF-65F1-81EA74828BC8}"/>
              </a:ext>
            </a:extLst>
          </p:cNvPr>
          <p:cNvSpPr txBox="1"/>
          <p:nvPr/>
        </p:nvSpPr>
        <p:spPr>
          <a:xfrm>
            <a:off x="1060704" y="3913632"/>
            <a:ext cx="18288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800" b="1">
                <a:solidFill>
                  <a:srgbClr val="00A99D"/>
                </a:solidFill>
                <a:latin typeface="Aptos" panose="020B0004020202020204" pitchFamily="34" charset="0"/>
              </a:rPr>
              <a:t>The big idea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E1DEF-CFBB-52E9-CD80-8383AD08733B}"/>
              </a:ext>
            </a:extLst>
          </p:cNvPr>
          <p:cNvSpPr txBox="1"/>
          <p:nvPr/>
        </p:nvSpPr>
        <p:spPr>
          <a:xfrm>
            <a:off x="1060704" y="4352544"/>
            <a:ext cx="9966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Store it  -&gt;  read its destination  -&gt;  choose a winner  -&gt;  send it out</a:t>
            </a:r>
            <a:endParaRPr lang="en-IN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8ABD32-A337-38E9-1A75-C3E55CC96525}"/>
              </a:ext>
            </a:extLst>
          </p:cNvPr>
          <p:cNvSpPr txBox="1"/>
          <p:nvPr/>
        </p:nvSpPr>
        <p:spPr>
          <a:xfrm>
            <a:off x="804672" y="5541264"/>
            <a:ext cx="10424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This is one router block, not yet a complete network of many routers.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68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8F3011-5B39-1635-ABD6-29CBB5A8343F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7B894-6445-7D3C-D769-C45742F083F4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BEGINNER VOCABULARY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C6EBC-E0F3-9D51-2A70-DE43B1C85BE9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First, learn six useful words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4CD9D0-7769-932F-BC8A-4ECE4911846F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76B85C-7880-CE8B-06D4-5C36B5240196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F1B63-EB2A-700D-7978-13F6D391E8B1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3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70189C-9657-495C-4CC6-EE021A3672F5}"/>
              </a:ext>
            </a:extLst>
          </p:cNvPr>
          <p:cNvSpPr/>
          <p:nvPr/>
        </p:nvSpPr>
        <p:spPr>
          <a:xfrm>
            <a:off x="594360" y="1170432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B7DF6D-488D-4DA8-F069-36370ABA4BDD}"/>
              </a:ext>
            </a:extLst>
          </p:cNvPr>
          <p:cNvSpPr/>
          <p:nvPr/>
        </p:nvSpPr>
        <p:spPr>
          <a:xfrm>
            <a:off x="685800" y="1335024"/>
            <a:ext cx="64008" cy="1060704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789C4-F0ED-BE59-4F6B-997DEA44CBD7}"/>
              </a:ext>
            </a:extLst>
          </p:cNvPr>
          <p:cNvSpPr txBox="1"/>
          <p:nvPr/>
        </p:nvSpPr>
        <p:spPr>
          <a:xfrm>
            <a:off x="868680" y="1335024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Flit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D87C5-9271-6B96-4F0B-46F42802F1C3}"/>
              </a:ext>
            </a:extLst>
          </p:cNvPr>
          <p:cNvSpPr txBox="1"/>
          <p:nvPr/>
        </p:nvSpPr>
        <p:spPr>
          <a:xfrm>
            <a:off x="868680" y="1828800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 small bundle of bits moving through the router. Here it is a complete one-flit packet.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31B069-CD8E-E5C8-31D5-67A8CD0AB686}"/>
              </a:ext>
            </a:extLst>
          </p:cNvPr>
          <p:cNvSpPr/>
          <p:nvPr/>
        </p:nvSpPr>
        <p:spPr>
          <a:xfrm>
            <a:off x="4325112" y="1170432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FC9AB1-F5CA-6492-C706-1776653F8AA3}"/>
              </a:ext>
            </a:extLst>
          </p:cNvPr>
          <p:cNvSpPr/>
          <p:nvPr/>
        </p:nvSpPr>
        <p:spPr>
          <a:xfrm>
            <a:off x="4416552" y="1335024"/>
            <a:ext cx="64008" cy="1060704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AB5C80-5376-463B-63A8-EC45AEC6C77C}"/>
              </a:ext>
            </a:extLst>
          </p:cNvPr>
          <p:cNvSpPr txBox="1"/>
          <p:nvPr/>
        </p:nvSpPr>
        <p:spPr>
          <a:xfrm>
            <a:off x="4599432" y="1335024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DBD47-1507-160C-D8EB-62E8D0B6FA63}"/>
              </a:ext>
            </a:extLst>
          </p:cNvPr>
          <p:cNvSpPr txBox="1"/>
          <p:nvPr/>
        </p:nvSpPr>
        <p:spPr>
          <a:xfrm>
            <a:off x="4599432" y="1828800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 queue: First In, First Out. The oldest flit is served first.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B922EC-3B4F-BD54-8BE8-F3AA8ABF9CC6}"/>
              </a:ext>
            </a:extLst>
          </p:cNvPr>
          <p:cNvSpPr/>
          <p:nvPr/>
        </p:nvSpPr>
        <p:spPr>
          <a:xfrm>
            <a:off x="8046720" y="1170432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F3B067-AA0E-7849-7ED7-21AA5737E0BC}"/>
              </a:ext>
            </a:extLst>
          </p:cNvPr>
          <p:cNvSpPr/>
          <p:nvPr/>
        </p:nvSpPr>
        <p:spPr>
          <a:xfrm>
            <a:off x="8138160" y="1335024"/>
            <a:ext cx="64008" cy="1060704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6B57A6-B716-88A0-6BC6-74137280E8B6}"/>
              </a:ext>
            </a:extLst>
          </p:cNvPr>
          <p:cNvSpPr txBox="1"/>
          <p:nvPr/>
        </p:nvSpPr>
        <p:spPr>
          <a:xfrm>
            <a:off x="8321040" y="1335024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Payload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CA4C6-B56A-7111-BEB4-F8EF77D2EDD5}"/>
              </a:ext>
            </a:extLst>
          </p:cNvPr>
          <p:cNvSpPr txBox="1"/>
          <p:nvPr/>
        </p:nvSpPr>
        <p:spPr>
          <a:xfrm>
            <a:off x="8321040" y="1828800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The useful data being carried, like the contents of a delivery box.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15ED2F-24FF-E9F2-E822-6CD3B03B6A86}"/>
              </a:ext>
            </a:extLst>
          </p:cNvPr>
          <p:cNvSpPr/>
          <p:nvPr/>
        </p:nvSpPr>
        <p:spPr>
          <a:xfrm>
            <a:off x="594360" y="2880360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90B928-F75A-C0AF-CDF8-D8201E2CDEE8}"/>
              </a:ext>
            </a:extLst>
          </p:cNvPr>
          <p:cNvSpPr/>
          <p:nvPr/>
        </p:nvSpPr>
        <p:spPr>
          <a:xfrm>
            <a:off x="685800" y="3044952"/>
            <a:ext cx="64008" cy="1060704"/>
          </a:xfrm>
          <a:prstGeom prst="roundRect">
            <a:avLst/>
          </a:prstGeom>
          <a:solidFill>
            <a:srgbClr val="EE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D8014F-8424-2439-CEA6-D69FB09CACED}"/>
              </a:ext>
            </a:extLst>
          </p:cNvPr>
          <p:cNvSpPr txBox="1"/>
          <p:nvPr/>
        </p:nvSpPr>
        <p:spPr>
          <a:xfrm>
            <a:off x="868680" y="304495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Destination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4E96F6-4B66-0BF3-CC56-BBF6E914849F}"/>
              </a:ext>
            </a:extLst>
          </p:cNvPr>
          <p:cNvSpPr txBox="1"/>
          <p:nvPr/>
        </p:nvSpPr>
        <p:spPr>
          <a:xfrm>
            <a:off x="868680" y="353872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The output number written in the flit: where the flit should leave.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C0619D-0A5C-5AB2-D048-44DED70A257F}"/>
              </a:ext>
            </a:extLst>
          </p:cNvPr>
          <p:cNvSpPr/>
          <p:nvPr/>
        </p:nvSpPr>
        <p:spPr>
          <a:xfrm>
            <a:off x="4325112" y="2880360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059056-0017-2BDE-38E6-1C1F0316F0A1}"/>
              </a:ext>
            </a:extLst>
          </p:cNvPr>
          <p:cNvSpPr/>
          <p:nvPr/>
        </p:nvSpPr>
        <p:spPr>
          <a:xfrm>
            <a:off x="4416552" y="3044952"/>
            <a:ext cx="64008" cy="1060704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287811-EBC8-A473-652D-EB3915A61BC6}"/>
              </a:ext>
            </a:extLst>
          </p:cNvPr>
          <p:cNvSpPr txBox="1"/>
          <p:nvPr/>
        </p:nvSpPr>
        <p:spPr>
          <a:xfrm>
            <a:off x="4599432" y="304495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Arbiter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92FA1-5C23-E0D7-8E09-0263E37C4215}"/>
              </a:ext>
            </a:extLst>
          </p:cNvPr>
          <p:cNvSpPr txBox="1"/>
          <p:nvPr/>
        </p:nvSpPr>
        <p:spPr>
          <a:xfrm>
            <a:off x="4599432" y="353872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 fair chooser. It picks one input when several want the same output.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972FA11-3F6D-46AD-55DD-E437895825C2}"/>
              </a:ext>
            </a:extLst>
          </p:cNvPr>
          <p:cNvSpPr/>
          <p:nvPr/>
        </p:nvSpPr>
        <p:spPr>
          <a:xfrm>
            <a:off x="8046720" y="2880360"/>
            <a:ext cx="352044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304A54F-49BC-59F3-2959-04B57C6C1C9D}"/>
              </a:ext>
            </a:extLst>
          </p:cNvPr>
          <p:cNvSpPr/>
          <p:nvPr/>
        </p:nvSpPr>
        <p:spPr>
          <a:xfrm>
            <a:off x="8138160" y="3044952"/>
            <a:ext cx="64008" cy="1060704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656A9F-EEEA-0025-6AFC-A497B44D1FF8}"/>
              </a:ext>
            </a:extLst>
          </p:cNvPr>
          <p:cNvSpPr txBox="1"/>
          <p:nvPr/>
        </p:nvSpPr>
        <p:spPr>
          <a:xfrm>
            <a:off x="8321040" y="3044952"/>
            <a:ext cx="3063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Crossbar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3BD964-EB00-A7D1-8E9B-B23BBF4BF3B5}"/>
              </a:ext>
            </a:extLst>
          </p:cNvPr>
          <p:cNvSpPr txBox="1"/>
          <p:nvPr/>
        </p:nvSpPr>
        <p:spPr>
          <a:xfrm>
            <a:off x="8321040" y="3538728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The data switch that connects the selected input to its chosen output.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4D356B-92BA-1CCE-13C1-2C3F22A9DB0F}"/>
              </a:ext>
            </a:extLst>
          </p:cNvPr>
          <p:cNvSpPr/>
          <p:nvPr/>
        </p:nvSpPr>
        <p:spPr>
          <a:xfrm>
            <a:off x="822960" y="4800600"/>
            <a:ext cx="10424160" cy="822960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D5BEF5-0A53-F45F-3E02-56B3CEFD1D84}"/>
              </a:ext>
            </a:extLst>
          </p:cNvPr>
          <p:cNvSpPr txBox="1"/>
          <p:nvPr/>
        </p:nvSpPr>
        <p:spPr>
          <a:xfrm>
            <a:off x="1051560" y="5010912"/>
            <a:ext cx="9966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20304A"/>
                </a:solidFill>
                <a:latin typeface="Aptos" panose="020B0004020202020204" pitchFamily="34" charset="0"/>
              </a:rPr>
              <a:t>Input = where it entered. Destination = where it must leave.</a:t>
            </a:r>
            <a:endParaRPr lang="en-IN" sz="21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5E421F-4BB3-319B-604E-46C8D0E1D5BA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17270-58BF-F914-D373-6F1FE6506858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PACKET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ED07B-AC18-9E9F-0679-F742B3702888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What is inside a flit?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15AF4C-1BBE-EBC7-FCCC-F989FA22D506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45E8F6-E121-4848-29C3-E0C7131DB3AA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744C0-F51B-A6EB-79B0-265060975252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4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FA071-8C92-3D6A-0112-99DEBFFD1B04}"/>
              </a:ext>
            </a:extLst>
          </p:cNvPr>
          <p:cNvSpPr txBox="1"/>
          <p:nvPr/>
        </p:nvSpPr>
        <p:spPr>
          <a:xfrm>
            <a:off x="758952" y="1170432"/>
            <a:ext cx="4389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0304A"/>
                </a:solidFill>
                <a:latin typeface="Aptos" panose="020B0004020202020204" pitchFamily="34" charset="0"/>
              </a:rPr>
              <a:t>Default width: 48 bits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DB333A-5960-97D1-EFD7-F24415D5C2EF}"/>
              </a:ext>
            </a:extLst>
          </p:cNvPr>
          <p:cNvSpPr/>
          <p:nvPr/>
        </p:nvSpPr>
        <p:spPr>
          <a:xfrm>
            <a:off x="777240" y="1856232"/>
            <a:ext cx="3200400" cy="105156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08170A-7177-63F9-90E2-BEAE6D4C76AF}"/>
              </a:ext>
            </a:extLst>
          </p:cNvPr>
          <p:cNvSpPr/>
          <p:nvPr/>
        </p:nvSpPr>
        <p:spPr>
          <a:xfrm>
            <a:off x="4096512" y="1856232"/>
            <a:ext cx="7223760" cy="1051560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05A7C-4BEA-A50C-878B-2374ECBC1410}"/>
              </a:ext>
            </a:extLst>
          </p:cNvPr>
          <p:cNvSpPr txBox="1"/>
          <p:nvPr/>
        </p:nvSpPr>
        <p:spPr>
          <a:xfrm>
            <a:off x="960120" y="2020824"/>
            <a:ext cx="28346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100" b="1">
                <a:solidFill>
                  <a:srgbClr val="FFFFFF"/>
                </a:solidFill>
                <a:latin typeface="Aptos" panose="020B0004020202020204" pitchFamily="34" charset="0"/>
              </a:rPr>
              <a:t>flit[47:45]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0BD2E-EDFD-D93B-06C8-BDD7EB7A4726}"/>
              </a:ext>
            </a:extLst>
          </p:cNvPr>
          <p:cNvSpPr txBox="1"/>
          <p:nvPr/>
        </p:nvSpPr>
        <p:spPr>
          <a:xfrm>
            <a:off x="960120" y="2395728"/>
            <a:ext cx="28346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FFFFFF"/>
                </a:solidFill>
                <a:latin typeface="Aptos" panose="020B0004020202020204" pitchFamily="34" charset="0"/>
              </a:rPr>
              <a:t>DESTINATION
3 bits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90B62-7F5F-19E3-15EC-9A1E08F30288}"/>
              </a:ext>
            </a:extLst>
          </p:cNvPr>
          <p:cNvSpPr txBox="1"/>
          <p:nvPr/>
        </p:nvSpPr>
        <p:spPr>
          <a:xfrm>
            <a:off x="4407408" y="2212848"/>
            <a:ext cx="66294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flit[44:0]   PAYLOAD (45 bits)</a:t>
            </a:r>
            <a:endParaRPr lang="en-IN" sz="2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BD4C0-F859-48DB-D95E-92171AF4496A}"/>
              </a:ext>
            </a:extLst>
          </p:cNvPr>
          <p:cNvSpPr txBox="1"/>
          <p:nvPr/>
        </p:nvSpPr>
        <p:spPr>
          <a:xfrm>
            <a:off x="777240" y="3310128"/>
            <a:ext cx="106984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20304A"/>
                </a:solidFill>
                <a:latin typeface="Aptos" panose="020B0004020202020204" pitchFamily="34" charset="0"/>
              </a:rPr>
              <a:t>The destination is the envelope label. The payload is what is inside the envelope.</a:t>
            </a:r>
            <a:endParaRPr lang="en-IN" sz="19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612C5A-AE4C-B0B6-3A0A-69641A5B59E0}"/>
              </a:ext>
            </a:extLst>
          </p:cNvPr>
          <p:cNvSpPr/>
          <p:nvPr/>
        </p:nvSpPr>
        <p:spPr>
          <a:xfrm>
            <a:off x="777240" y="4041648"/>
            <a:ext cx="498348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0194C8-B3FC-D8D1-458B-0B287221B46D}"/>
              </a:ext>
            </a:extLst>
          </p:cNvPr>
          <p:cNvSpPr/>
          <p:nvPr/>
        </p:nvSpPr>
        <p:spPr>
          <a:xfrm>
            <a:off x="868680" y="4206240"/>
            <a:ext cx="64008" cy="877824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80402C-E68D-6D37-BDC5-BF1774A407C2}"/>
              </a:ext>
            </a:extLst>
          </p:cNvPr>
          <p:cNvSpPr txBox="1"/>
          <p:nvPr/>
        </p:nvSpPr>
        <p:spPr>
          <a:xfrm>
            <a:off x="1051560" y="4206240"/>
            <a:ext cx="4526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Legal destination numbers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47CFE-8EC4-F716-22F8-9D724473F73B}"/>
              </a:ext>
            </a:extLst>
          </p:cNvPr>
          <p:cNvSpPr txBox="1"/>
          <p:nvPr/>
        </p:nvSpPr>
        <p:spPr>
          <a:xfrm>
            <a:off x="1051560" y="4700016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0 Local  |  1 North  |  2 South  |  3 East  |  4 West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31720F0-26A7-D37F-0923-3EABADEA5E5C}"/>
              </a:ext>
            </a:extLst>
          </p:cNvPr>
          <p:cNvSpPr/>
          <p:nvPr/>
        </p:nvSpPr>
        <p:spPr>
          <a:xfrm>
            <a:off x="6007608" y="4041648"/>
            <a:ext cx="498348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E8838B-EB67-F0A8-1FED-4E9684243B6D}"/>
              </a:ext>
            </a:extLst>
          </p:cNvPr>
          <p:cNvSpPr/>
          <p:nvPr/>
        </p:nvSpPr>
        <p:spPr>
          <a:xfrm>
            <a:off x="6099048" y="4206240"/>
            <a:ext cx="64008" cy="877824"/>
          </a:xfrm>
          <a:prstGeom prst="roundRect">
            <a:avLst/>
          </a:prstGeom>
          <a:solidFill>
            <a:srgbClr val="EE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43C86-FF17-ED02-C226-EE1ACACABE03}"/>
              </a:ext>
            </a:extLst>
          </p:cNvPr>
          <p:cNvSpPr txBox="1"/>
          <p:nvPr/>
        </p:nvSpPr>
        <p:spPr>
          <a:xfrm>
            <a:off x="6281928" y="4206240"/>
            <a:ext cx="4526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Illegal destination numbers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9D2BD0-298C-368B-F2C1-8573EF6B7D8C}"/>
              </a:ext>
            </a:extLst>
          </p:cNvPr>
          <p:cNvSpPr txBox="1"/>
          <p:nvPr/>
        </p:nvSpPr>
        <p:spPr>
          <a:xfrm>
            <a:off x="6281928" y="4700016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5, 6, or 7: the router drops the flit and reports the input.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BCEF3D-9F01-8EDA-F85F-0E29DA764399}"/>
              </a:ext>
            </a:extLst>
          </p:cNvPr>
          <p:cNvSpPr txBox="1"/>
          <p:nvPr/>
        </p:nvSpPr>
        <p:spPr>
          <a:xfrm>
            <a:off x="804672" y="5605272"/>
            <a:ext cx="106984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In this simple version, every flit is a complete one-flit packet.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33809E-5A4C-06CC-6270-A0E720012B91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4905B-EEB3-F829-4DD4-92D75DE5080D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ROUTER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9E8BA-290E-4CB0-7485-0B6AEC192D5B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500" b="1">
                <a:solidFill>
                  <a:srgbClr val="FFFFFF"/>
                </a:solidFill>
                <a:latin typeface="Aptos" panose="020B0004020202020204" pitchFamily="34" charset="0"/>
              </a:rPr>
              <a:t>Meet the five ports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5C9FF2-2286-0818-C853-7776E8A27BC7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6627A1-8543-71E5-0F60-851437BB21EB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57B6C-8B8E-7999-1D75-702221234BFB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5 / 19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A3DA9D-E389-B147-9A95-4662B7955125}"/>
              </a:ext>
            </a:extLst>
          </p:cNvPr>
          <p:cNvCxnSpPr/>
          <p:nvPr/>
        </p:nvCxnSpPr>
        <p:spPr>
          <a:xfrm flipV="1">
            <a:off x="6080760" y="2057400"/>
            <a:ext cx="0" cy="1399032"/>
          </a:xfrm>
          <a:prstGeom prst="straightConnector1">
            <a:avLst/>
          </a:prstGeom>
          <a:ln w="38100">
            <a:solidFill>
              <a:srgbClr val="00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402D2D-5E68-5BA2-A5EE-CFB8FA0B3854}"/>
              </a:ext>
            </a:extLst>
          </p:cNvPr>
          <p:cNvCxnSpPr/>
          <p:nvPr/>
        </p:nvCxnSpPr>
        <p:spPr>
          <a:xfrm>
            <a:off x="6080760" y="3456432"/>
            <a:ext cx="2148840" cy="0"/>
          </a:xfrm>
          <a:prstGeom prst="straightConnector1">
            <a:avLst/>
          </a:prstGeom>
          <a:ln w="38100">
            <a:solidFill>
              <a:srgbClr val="37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26DF8E-650F-BA26-DD46-9CF6E5D771F8}"/>
              </a:ext>
            </a:extLst>
          </p:cNvPr>
          <p:cNvCxnSpPr/>
          <p:nvPr/>
        </p:nvCxnSpPr>
        <p:spPr>
          <a:xfrm>
            <a:off x="6080760" y="3456432"/>
            <a:ext cx="0" cy="1316736"/>
          </a:xfrm>
          <a:prstGeom prst="straightConnector1">
            <a:avLst/>
          </a:prstGeom>
          <a:ln w="3810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4DC139-C6C3-5C61-8754-98A92BAFADAC}"/>
              </a:ext>
            </a:extLst>
          </p:cNvPr>
          <p:cNvCxnSpPr/>
          <p:nvPr/>
        </p:nvCxnSpPr>
        <p:spPr>
          <a:xfrm flipH="1">
            <a:off x="3931920" y="3456432"/>
            <a:ext cx="2148840" cy="0"/>
          </a:xfrm>
          <a:prstGeom prst="straightConnector1">
            <a:avLst/>
          </a:prstGeom>
          <a:ln w="38100">
            <a:solidFill>
              <a:srgbClr val="EE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569EC-ACF1-ABA8-C305-4CE868C5302B}"/>
              </a:ext>
            </a:extLst>
          </p:cNvPr>
          <p:cNvSpPr/>
          <p:nvPr/>
        </p:nvSpPr>
        <p:spPr>
          <a:xfrm>
            <a:off x="5074920" y="2907792"/>
            <a:ext cx="2011680" cy="109728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A57A89-2B84-B05C-E12D-29AB569815B2}"/>
              </a:ext>
            </a:extLst>
          </p:cNvPr>
          <p:cNvSpPr txBox="1"/>
          <p:nvPr/>
        </p:nvSpPr>
        <p:spPr>
          <a:xfrm>
            <a:off x="5074920" y="3246120"/>
            <a:ext cx="20116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Aptos" panose="020B0004020202020204" pitchFamily="34" charset="0"/>
              </a:rPr>
              <a:t>ROUTER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FA0439-045F-43E9-BBDD-89A39348F849}"/>
              </a:ext>
            </a:extLst>
          </p:cNvPr>
          <p:cNvSpPr/>
          <p:nvPr/>
        </p:nvSpPr>
        <p:spPr>
          <a:xfrm>
            <a:off x="5093208" y="1344168"/>
            <a:ext cx="1965960" cy="384048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82E87-9E7F-520B-8817-D0ED6EA020A0}"/>
              </a:ext>
            </a:extLst>
          </p:cNvPr>
          <p:cNvSpPr txBox="1"/>
          <p:nvPr/>
        </p:nvSpPr>
        <p:spPr>
          <a:xfrm>
            <a:off x="5093208" y="138074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1  NORTH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AB08DB-E9A4-000C-4815-358A9BD5DEA0}"/>
              </a:ext>
            </a:extLst>
          </p:cNvPr>
          <p:cNvSpPr/>
          <p:nvPr/>
        </p:nvSpPr>
        <p:spPr>
          <a:xfrm>
            <a:off x="7498080" y="3246120"/>
            <a:ext cx="1600200" cy="384048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B04E7D-2ED0-2E6C-E4BB-CE0AD97DFAE5}"/>
              </a:ext>
            </a:extLst>
          </p:cNvPr>
          <p:cNvSpPr txBox="1"/>
          <p:nvPr/>
        </p:nvSpPr>
        <p:spPr>
          <a:xfrm>
            <a:off x="7498080" y="3282696"/>
            <a:ext cx="1600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3  EAST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EBDC56-E5D6-CCF2-C1D1-9FE4F14AE3CD}"/>
              </a:ext>
            </a:extLst>
          </p:cNvPr>
          <p:cNvSpPr/>
          <p:nvPr/>
        </p:nvSpPr>
        <p:spPr>
          <a:xfrm>
            <a:off x="5093208" y="4846320"/>
            <a:ext cx="1965960" cy="384048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78478-4035-3261-BE97-B158030B4656}"/>
              </a:ext>
            </a:extLst>
          </p:cNvPr>
          <p:cNvSpPr txBox="1"/>
          <p:nvPr/>
        </p:nvSpPr>
        <p:spPr>
          <a:xfrm>
            <a:off x="5093208" y="4882896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2  SOUTH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706283-9CB1-8C2E-8702-3C09DE35AF9F}"/>
              </a:ext>
            </a:extLst>
          </p:cNvPr>
          <p:cNvSpPr/>
          <p:nvPr/>
        </p:nvSpPr>
        <p:spPr>
          <a:xfrm>
            <a:off x="3017520" y="3246120"/>
            <a:ext cx="1600200" cy="384048"/>
          </a:xfrm>
          <a:prstGeom prst="roundRect">
            <a:avLst/>
          </a:prstGeom>
          <a:solidFill>
            <a:srgbClr val="FCE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EF39AC-30FB-9CC9-02E3-387A9BAEEECB}"/>
              </a:ext>
            </a:extLst>
          </p:cNvPr>
          <p:cNvSpPr txBox="1"/>
          <p:nvPr/>
        </p:nvSpPr>
        <p:spPr>
          <a:xfrm>
            <a:off x="3017520" y="3282696"/>
            <a:ext cx="1600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4  WEST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869B4-422F-3552-351F-21FD17816EA8}"/>
              </a:ext>
            </a:extLst>
          </p:cNvPr>
          <p:cNvSpPr txBox="1"/>
          <p:nvPr/>
        </p:nvSpPr>
        <p:spPr>
          <a:xfrm>
            <a:off x="822960" y="5650992"/>
            <a:ext cx="10515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800" b="1">
                <a:solidFill>
                  <a:srgbClr val="20304A"/>
                </a:solidFill>
                <a:latin typeface="Aptos" panose="020B0004020202020204" pitchFamily="34" charset="0"/>
              </a:rPr>
              <a:t>0 = Local (the fifth side, used by the local processor)</a:t>
            </a:r>
            <a:endParaRPr lang="en-IN" sz="18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B44707-EFDA-2371-F37A-73F44D9B58DC}"/>
              </a:ext>
            </a:extLst>
          </p:cNvPr>
          <p:cNvSpPr txBox="1"/>
          <p:nvPr/>
        </p:nvSpPr>
        <p:spPr>
          <a:xfrm>
            <a:off x="822960" y="6016752"/>
            <a:ext cx="10515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>
                <a:solidFill>
                  <a:srgbClr val="5D6B82"/>
                </a:solidFill>
                <a:latin typeface="Aptos" panose="020B0004020202020204" pitchFamily="34" charset="0"/>
              </a:rPr>
              <a:t>Every numbered side has both an input and an output connection.</a:t>
            </a:r>
            <a:endParaRPr lang="en-IN" sz="14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53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21E99D-4B9D-EF02-4F52-84B055283486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7B80B-5C52-01BD-68F9-F6B4DC5FB531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READY + VALID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67306-A083-DA10-982D-D938FA34BA7E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How do two sides agree to transfer?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4127C9-CD0A-5B01-A40C-000E1C6DFC47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56B277-D0A3-367B-9A53-E85B4BCB6632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FC62D-453F-1EC4-D797-0BEBBE1641F5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6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BA35FD-21F8-5A51-511F-75E20A52C4AF}"/>
              </a:ext>
            </a:extLst>
          </p:cNvPr>
          <p:cNvSpPr/>
          <p:nvPr/>
        </p:nvSpPr>
        <p:spPr>
          <a:xfrm>
            <a:off x="713232" y="1243584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A955EE-EC45-F805-6D16-28A3255F1908}"/>
              </a:ext>
            </a:extLst>
          </p:cNvPr>
          <p:cNvSpPr/>
          <p:nvPr/>
        </p:nvSpPr>
        <p:spPr>
          <a:xfrm>
            <a:off x="804672" y="1408176"/>
            <a:ext cx="64008" cy="1499616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EEC51-2DCD-7B08-756D-B473656C361F}"/>
              </a:ext>
            </a:extLst>
          </p:cNvPr>
          <p:cNvSpPr txBox="1"/>
          <p:nvPr/>
        </p:nvSpPr>
        <p:spPr>
          <a:xfrm>
            <a:off x="987552" y="1408176"/>
            <a:ext cx="47548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Sender says VALID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86E39-488C-A6B3-CD38-A62883435A2F}"/>
              </a:ext>
            </a:extLst>
          </p:cNvPr>
          <p:cNvSpPr txBox="1"/>
          <p:nvPr/>
        </p:nvSpPr>
        <p:spPr>
          <a:xfrm>
            <a:off x="987552" y="1901952"/>
            <a:ext cx="4709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800">
                <a:solidFill>
                  <a:srgbClr val="5D6B82"/>
                </a:solidFill>
                <a:latin typeface="Aptos" panose="020B0004020202020204" pitchFamily="34" charset="0"/>
              </a:rPr>
              <a:t>"I have a flit. I will keep it stable until you accept it."</a:t>
            </a:r>
            <a:endParaRPr lang="en-IN" sz="18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CE5EF0-BBB6-3FD1-BE0F-26ED6928AC65}"/>
              </a:ext>
            </a:extLst>
          </p:cNvPr>
          <p:cNvSpPr/>
          <p:nvPr/>
        </p:nvSpPr>
        <p:spPr>
          <a:xfrm>
            <a:off x="6263640" y="1243584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40D144-F7A9-F6A9-24AD-0BACB79259E6}"/>
              </a:ext>
            </a:extLst>
          </p:cNvPr>
          <p:cNvSpPr/>
          <p:nvPr/>
        </p:nvSpPr>
        <p:spPr>
          <a:xfrm>
            <a:off x="6355080" y="1408176"/>
            <a:ext cx="64008" cy="1499616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3CC13F-158F-BCEE-FB33-6FC3BF26467C}"/>
              </a:ext>
            </a:extLst>
          </p:cNvPr>
          <p:cNvSpPr txBox="1"/>
          <p:nvPr/>
        </p:nvSpPr>
        <p:spPr>
          <a:xfrm>
            <a:off x="6537960" y="1408176"/>
            <a:ext cx="47548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Receiver says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797F0-A517-CB35-76A0-09E67C14B6AA}"/>
              </a:ext>
            </a:extLst>
          </p:cNvPr>
          <p:cNvSpPr txBox="1"/>
          <p:nvPr/>
        </p:nvSpPr>
        <p:spPr>
          <a:xfrm>
            <a:off x="6537960" y="1901952"/>
            <a:ext cx="4709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800">
                <a:solidFill>
                  <a:srgbClr val="5D6B82"/>
                </a:solidFill>
                <a:latin typeface="Aptos" panose="020B0004020202020204" pitchFamily="34" charset="0"/>
              </a:rPr>
              <a:t>"I have space. You may send the flit now."</a:t>
            </a:r>
            <a:endParaRPr lang="en-IN" sz="18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A936BF-821C-B1CC-77DB-3D8249E06718}"/>
              </a:ext>
            </a:extLst>
          </p:cNvPr>
          <p:cNvSpPr/>
          <p:nvPr/>
        </p:nvSpPr>
        <p:spPr>
          <a:xfrm>
            <a:off x="969264" y="3584448"/>
            <a:ext cx="10149840" cy="105156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4AC14-1FCC-ABB8-C453-B0B5865C5603}"/>
              </a:ext>
            </a:extLst>
          </p:cNvPr>
          <p:cNvSpPr txBox="1"/>
          <p:nvPr/>
        </p:nvSpPr>
        <p:spPr>
          <a:xfrm>
            <a:off x="1170432" y="3886200"/>
            <a:ext cx="97840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Aptos" panose="020B0004020202020204" pitchFamily="34" charset="0"/>
              </a:rPr>
              <a:t>TRANSFER = VALID AND READY at a rising clock edge</a:t>
            </a:r>
            <a:endParaRPr lang="en-IN" sz="2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6DA2BD-C991-FD4D-D796-417B9ECF9E80}"/>
              </a:ext>
            </a:extLst>
          </p:cNvPr>
          <p:cNvSpPr/>
          <p:nvPr/>
        </p:nvSpPr>
        <p:spPr>
          <a:xfrm>
            <a:off x="914400" y="5129784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A59DF-A361-7282-A244-DBDEC68BD76B}"/>
              </a:ext>
            </a:extLst>
          </p:cNvPr>
          <p:cNvSpPr txBox="1"/>
          <p:nvPr/>
        </p:nvSpPr>
        <p:spPr>
          <a:xfrm>
            <a:off x="1161288" y="4956048"/>
            <a:ext cx="990295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0304A"/>
                </a:solidFill>
                <a:latin typeface="Aptos" panose="020B0004020202020204" pitchFamily="34" charset="0"/>
              </a:rPr>
              <a:t>Input side: in_valid and in_ready let a flit enter its FIFO.</a:t>
            </a:r>
            <a:endParaRPr lang="en-IN" sz="15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076B36-BD8A-9B9E-04B5-26536E737567}"/>
              </a:ext>
            </a:extLst>
          </p:cNvPr>
          <p:cNvSpPr/>
          <p:nvPr/>
        </p:nvSpPr>
        <p:spPr>
          <a:xfrm>
            <a:off x="914400" y="5559552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FE7A-80B6-5D6C-736B-F240246C9A7A}"/>
              </a:ext>
            </a:extLst>
          </p:cNvPr>
          <p:cNvSpPr txBox="1"/>
          <p:nvPr/>
        </p:nvSpPr>
        <p:spPr>
          <a:xfrm>
            <a:off x="1161288" y="5385816"/>
            <a:ext cx="990295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0304A"/>
                </a:solidFill>
                <a:latin typeface="Aptos" panose="020B0004020202020204" pitchFamily="34" charset="0"/>
              </a:rPr>
              <a:t>Output side: out_valid and out_ready let a flit leave the router.</a:t>
            </a:r>
            <a:endParaRPr lang="en-IN" sz="15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C928F-8A07-2718-D754-1FCC5BD053DA}"/>
              </a:ext>
            </a:extLst>
          </p:cNvPr>
          <p:cNvSpPr/>
          <p:nvPr/>
        </p:nvSpPr>
        <p:spPr>
          <a:xfrm>
            <a:off x="914400" y="5989320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3AF1D-98F9-C4F0-975A-5046531556CF}"/>
              </a:ext>
            </a:extLst>
          </p:cNvPr>
          <p:cNvSpPr txBox="1"/>
          <p:nvPr/>
        </p:nvSpPr>
        <p:spPr>
          <a:xfrm>
            <a:off x="1161288" y="5815584"/>
            <a:ext cx="990295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0304A"/>
                </a:solidFill>
                <a:latin typeface="Aptos" panose="020B0004020202020204" pitchFamily="34" charset="0"/>
              </a:rPr>
              <a:t>If READY is low, wait. Do not change or lose the flit.</a:t>
            </a:r>
            <a:endParaRPr lang="en-IN" sz="15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0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02905A-5844-BF1E-9A97-ADFE3DA1FF67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1C1A7-E4F9-8544-C1D9-842F7F480E9D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BIG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C843E-1305-45D2-A22B-773E3DCE54A0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Follow the data through the blocks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E8A359-F1ED-CB24-8F12-FFEFB2D791FE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C4C2FD5-DAEB-94F8-2CD5-F1CE840D3483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FBB8E-2CCA-FE61-DF88-B4F633880417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7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C181F4-E703-A339-BB04-8C962A584892}"/>
              </a:ext>
            </a:extLst>
          </p:cNvPr>
          <p:cNvSpPr/>
          <p:nvPr/>
        </p:nvSpPr>
        <p:spPr>
          <a:xfrm>
            <a:off x="411480" y="2331720"/>
            <a:ext cx="1965960" cy="1225296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D6A90-9C15-B829-6F48-6097DA4866A4}"/>
              </a:ext>
            </a:extLst>
          </p:cNvPr>
          <p:cNvSpPr txBox="1"/>
          <p:nvPr/>
        </p:nvSpPr>
        <p:spPr>
          <a:xfrm>
            <a:off x="411480" y="256946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20304A"/>
                </a:solidFill>
                <a:latin typeface="Aptos" panose="020B0004020202020204" pitchFamily="34" charset="0"/>
              </a:rPr>
              <a:t>1  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C0F9E-83C2-BD3F-3EF9-7B56CFADBFE7}"/>
              </a:ext>
            </a:extLst>
          </p:cNvPr>
          <p:cNvSpPr txBox="1"/>
          <p:nvPr/>
        </p:nvSpPr>
        <p:spPr>
          <a:xfrm>
            <a:off x="411480" y="2944368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5D6B82"/>
                </a:solidFill>
                <a:latin typeface="Aptos" panose="020B0004020202020204" pitchFamily="34" charset="0"/>
              </a:rPr>
              <a:t>ready/valid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2B31B-2CA5-B4DF-C899-5BFE5DD21C84}"/>
              </a:ext>
            </a:extLst>
          </p:cNvPr>
          <p:cNvSpPr txBox="1"/>
          <p:nvPr/>
        </p:nvSpPr>
        <p:spPr>
          <a:xfrm>
            <a:off x="2414016" y="2724912"/>
            <a:ext cx="2560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29DAA7-6668-B865-E000-E1C08E7BAC09}"/>
              </a:ext>
            </a:extLst>
          </p:cNvPr>
          <p:cNvSpPr/>
          <p:nvPr/>
        </p:nvSpPr>
        <p:spPr>
          <a:xfrm>
            <a:off x="2697480" y="2331720"/>
            <a:ext cx="1965960" cy="1225296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56598-0A49-5B38-76F4-ADE062E1D156}"/>
              </a:ext>
            </a:extLst>
          </p:cNvPr>
          <p:cNvSpPr txBox="1"/>
          <p:nvPr/>
        </p:nvSpPr>
        <p:spPr>
          <a:xfrm>
            <a:off x="2697480" y="256946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20304A"/>
                </a:solidFill>
                <a:latin typeface="Aptos" panose="020B0004020202020204" pitchFamily="34" charset="0"/>
              </a:rPr>
              <a:t>2  FIFO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03590-BFDC-67EC-F696-E0B681723BDB}"/>
              </a:ext>
            </a:extLst>
          </p:cNvPr>
          <p:cNvSpPr txBox="1"/>
          <p:nvPr/>
        </p:nvSpPr>
        <p:spPr>
          <a:xfrm>
            <a:off x="2697480" y="2944368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5D6B82"/>
                </a:solidFill>
                <a:latin typeface="Aptos" panose="020B0004020202020204" pitchFamily="34" charset="0"/>
              </a:rPr>
              <a:t>wait in 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E0027-004F-D8F3-243A-82FD08CF9156}"/>
              </a:ext>
            </a:extLst>
          </p:cNvPr>
          <p:cNvSpPr txBox="1"/>
          <p:nvPr/>
        </p:nvSpPr>
        <p:spPr>
          <a:xfrm>
            <a:off x="4700016" y="2724912"/>
            <a:ext cx="2560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25470E-58A3-48BF-7951-0A61ECAF2B24}"/>
              </a:ext>
            </a:extLst>
          </p:cNvPr>
          <p:cNvSpPr/>
          <p:nvPr/>
        </p:nvSpPr>
        <p:spPr>
          <a:xfrm>
            <a:off x="4983480" y="2331720"/>
            <a:ext cx="1965960" cy="1225296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586B3-FA43-117D-A83D-53FA0060128D}"/>
              </a:ext>
            </a:extLst>
          </p:cNvPr>
          <p:cNvSpPr txBox="1"/>
          <p:nvPr/>
        </p:nvSpPr>
        <p:spPr>
          <a:xfrm>
            <a:off x="4983480" y="256946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20304A"/>
                </a:solidFill>
                <a:latin typeface="Aptos" panose="020B0004020202020204" pitchFamily="34" charset="0"/>
              </a:rPr>
              <a:t>3  ALLOCATOR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8BD243-DFDF-4BBD-54F6-74C4A416586B}"/>
              </a:ext>
            </a:extLst>
          </p:cNvPr>
          <p:cNvSpPr txBox="1"/>
          <p:nvPr/>
        </p:nvSpPr>
        <p:spPr>
          <a:xfrm>
            <a:off x="4983480" y="2944368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5D6B82"/>
                </a:solidFill>
                <a:latin typeface="Aptos" panose="020B0004020202020204" pitchFamily="34" charset="0"/>
              </a:rPr>
              <a:t>choose route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C3DFD-36C6-44FD-66AC-EC56992E9949}"/>
              </a:ext>
            </a:extLst>
          </p:cNvPr>
          <p:cNvSpPr txBox="1"/>
          <p:nvPr/>
        </p:nvSpPr>
        <p:spPr>
          <a:xfrm>
            <a:off x="6986016" y="2724912"/>
            <a:ext cx="2560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004FF4-F28B-25D4-F8CC-76A1C3CC7B95}"/>
              </a:ext>
            </a:extLst>
          </p:cNvPr>
          <p:cNvSpPr/>
          <p:nvPr/>
        </p:nvSpPr>
        <p:spPr>
          <a:xfrm>
            <a:off x="7269480" y="2331720"/>
            <a:ext cx="1965960" cy="1225296"/>
          </a:xfrm>
          <a:prstGeom prst="roundRect">
            <a:avLst/>
          </a:prstGeom>
          <a:solidFill>
            <a:srgbClr val="FCE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3FBA94-4B19-6EFD-6EFF-7DF2A0909D41}"/>
              </a:ext>
            </a:extLst>
          </p:cNvPr>
          <p:cNvSpPr txBox="1"/>
          <p:nvPr/>
        </p:nvSpPr>
        <p:spPr>
          <a:xfrm>
            <a:off x="7269480" y="256946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20304A"/>
                </a:solidFill>
                <a:latin typeface="Aptos" panose="020B0004020202020204" pitchFamily="34" charset="0"/>
              </a:rPr>
              <a:t>4  CROSSBAR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CEE82-1F59-1FC1-C099-D251B811B8DA}"/>
              </a:ext>
            </a:extLst>
          </p:cNvPr>
          <p:cNvSpPr txBox="1"/>
          <p:nvPr/>
        </p:nvSpPr>
        <p:spPr>
          <a:xfrm>
            <a:off x="7269480" y="2944368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5D6B82"/>
                </a:solidFill>
                <a:latin typeface="Aptos" panose="020B0004020202020204" pitchFamily="34" charset="0"/>
              </a:rPr>
              <a:t>move the bits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6F2415-8FBD-0924-9211-A11D5B8E27BB}"/>
              </a:ext>
            </a:extLst>
          </p:cNvPr>
          <p:cNvSpPr txBox="1"/>
          <p:nvPr/>
        </p:nvSpPr>
        <p:spPr>
          <a:xfrm>
            <a:off x="9272016" y="2724912"/>
            <a:ext cx="2560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C52DB2-C096-D6D3-7C5F-C56793F58DD5}"/>
              </a:ext>
            </a:extLst>
          </p:cNvPr>
          <p:cNvSpPr/>
          <p:nvPr/>
        </p:nvSpPr>
        <p:spPr>
          <a:xfrm>
            <a:off x="9555480" y="2331720"/>
            <a:ext cx="1965960" cy="1225296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3F4FC-219F-B0DF-7E9E-5C0E246FCD13}"/>
              </a:ext>
            </a:extLst>
          </p:cNvPr>
          <p:cNvSpPr txBox="1"/>
          <p:nvPr/>
        </p:nvSpPr>
        <p:spPr>
          <a:xfrm>
            <a:off x="9555480" y="2569464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20304A"/>
                </a:solidFill>
                <a:latin typeface="Aptos" panose="020B0004020202020204" pitchFamily="34" charset="0"/>
              </a:rPr>
              <a:t>5  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3319E4-E8DF-8B04-14D2-89F66A645DF5}"/>
              </a:ext>
            </a:extLst>
          </p:cNvPr>
          <p:cNvSpPr txBox="1"/>
          <p:nvPr/>
        </p:nvSpPr>
        <p:spPr>
          <a:xfrm>
            <a:off x="9555480" y="2944368"/>
            <a:ext cx="1965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>
                <a:solidFill>
                  <a:srgbClr val="5D6B82"/>
                </a:solidFill>
                <a:latin typeface="Aptos" panose="020B0004020202020204" pitchFamily="34" charset="0"/>
              </a:rPr>
              <a:t>ready/valid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F80A97-BEBF-FBD3-38FE-FE25E8D94BCF}"/>
              </a:ext>
            </a:extLst>
          </p:cNvPr>
          <p:cNvSpPr txBox="1"/>
          <p:nvPr/>
        </p:nvSpPr>
        <p:spPr>
          <a:xfrm>
            <a:off x="914400" y="4069080"/>
            <a:ext cx="10241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900" b="1">
                <a:solidFill>
                  <a:srgbClr val="20304A"/>
                </a:solidFill>
                <a:latin typeface="Aptos" panose="020B0004020202020204" pitchFamily="34" charset="0"/>
              </a:rPr>
              <a:t>A different small SystemVerilog module handles each job.</a:t>
            </a:r>
            <a:endParaRPr lang="en-IN" sz="19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DC5E81-8CB9-2949-4A27-30551B619FFB}"/>
              </a:ext>
            </a:extLst>
          </p:cNvPr>
          <p:cNvSpPr txBox="1"/>
          <p:nvPr/>
        </p:nvSpPr>
        <p:spPr>
          <a:xfrm>
            <a:off x="914400" y="4572000"/>
            <a:ext cx="10241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800">
                <a:solidFill>
                  <a:srgbClr val="5D6B82"/>
                </a:solidFill>
                <a:latin typeface="Aptos" panose="020B0004020202020204" pitchFamily="34" charset="0"/>
              </a:rPr>
              <a:t>router_5port.sv is the top-level wiring that joins the modules together.</a:t>
            </a:r>
            <a:endParaRPr lang="en-IN" sz="18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88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6FAEBB-50CC-EB4B-41E7-CE13BF798B9D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DBB02-36BB-A1F7-7763-8A0E035B29EC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THE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24D0C-F6A2-C62E-28C2-59897D677E0A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FIFO: each input has its own waiting line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F56C6A-2554-FBF8-56CB-CE424174C092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13A253-4312-948D-8DF6-396DF089D90E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4FE19-910F-7EEF-99EA-3428132F7F26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8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8F472-D2BB-00D7-F45D-D0BC21610691}"/>
              </a:ext>
            </a:extLst>
          </p:cNvPr>
          <p:cNvSpPr txBox="1"/>
          <p:nvPr/>
        </p:nvSpPr>
        <p:spPr>
          <a:xfrm>
            <a:off x="731520" y="1152144"/>
            <a:ext cx="5760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20304A"/>
                </a:solidFill>
                <a:latin typeface="Aptos" panose="020B0004020202020204" pitchFamily="34" charset="0"/>
              </a:rPr>
              <a:t>Four storage places (default depth = 4)</a:t>
            </a:r>
            <a:endParaRPr lang="en-IN" sz="20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F06C46-CE8F-68DB-ABEF-049B9FE081FE}"/>
              </a:ext>
            </a:extLst>
          </p:cNvPr>
          <p:cNvSpPr/>
          <p:nvPr/>
        </p:nvSpPr>
        <p:spPr>
          <a:xfrm>
            <a:off x="960120" y="2103120"/>
            <a:ext cx="1874520" cy="1024128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5AA9F-4259-FA2A-0CDA-0609BC6A64D1}"/>
              </a:ext>
            </a:extLst>
          </p:cNvPr>
          <p:cNvSpPr txBox="1"/>
          <p:nvPr/>
        </p:nvSpPr>
        <p:spPr>
          <a:xfrm>
            <a:off x="960120" y="2221992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>
                <a:solidFill>
                  <a:srgbClr val="5D6B82"/>
                </a:solidFill>
                <a:latin typeface="Aptos" panose="020B0004020202020204" pitchFamily="34" charset="0"/>
              </a:rPr>
              <a:t>slot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5C3-D53B-507F-9814-8849EAF3ADC3}"/>
              </a:ext>
            </a:extLst>
          </p:cNvPr>
          <p:cNvSpPr txBox="1"/>
          <p:nvPr/>
        </p:nvSpPr>
        <p:spPr>
          <a:xfrm>
            <a:off x="960120" y="2606040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800" b="1">
                <a:solidFill>
                  <a:srgbClr val="20304A"/>
                </a:solidFill>
                <a:latin typeface="Aptos" panose="020B0004020202020204" pitchFamily="34" charset="0"/>
              </a:rPr>
              <a:t>A - oldest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E05045-E314-BE62-9F82-59C372DD3EC1}"/>
              </a:ext>
            </a:extLst>
          </p:cNvPr>
          <p:cNvSpPr/>
          <p:nvPr/>
        </p:nvSpPr>
        <p:spPr>
          <a:xfrm>
            <a:off x="3200400" y="2103120"/>
            <a:ext cx="187452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63948-B8D1-D868-7E36-4538F16A8CB3}"/>
              </a:ext>
            </a:extLst>
          </p:cNvPr>
          <p:cNvSpPr txBox="1"/>
          <p:nvPr/>
        </p:nvSpPr>
        <p:spPr>
          <a:xfrm>
            <a:off x="3200400" y="2221992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>
                <a:solidFill>
                  <a:srgbClr val="5D6B82"/>
                </a:solidFill>
                <a:latin typeface="Aptos" panose="020B0004020202020204" pitchFamily="34" charset="0"/>
              </a:rPr>
              <a:t>slot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446B12-D70C-7038-D0FA-322AAB714674}"/>
              </a:ext>
            </a:extLst>
          </p:cNvPr>
          <p:cNvSpPr txBox="1"/>
          <p:nvPr/>
        </p:nvSpPr>
        <p:spPr>
          <a:xfrm>
            <a:off x="3200400" y="2606040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800" b="1">
                <a:solidFill>
                  <a:srgbClr val="20304A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0CBA66-E7E6-4902-7CD9-8731A7F7D876}"/>
              </a:ext>
            </a:extLst>
          </p:cNvPr>
          <p:cNvSpPr/>
          <p:nvPr/>
        </p:nvSpPr>
        <p:spPr>
          <a:xfrm>
            <a:off x="5440680" y="2103120"/>
            <a:ext cx="187452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4613C-D47C-77CB-3C08-47FEFC1471B2}"/>
              </a:ext>
            </a:extLst>
          </p:cNvPr>
          <p:cNvSpPr txBox="1"/>
          <p:nvPr/>
        </p:nvSpPr>
        <p:spPr>
          <a:xfrm>
            <a:off x="5440680" y="2221992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>
                <a:solidFill>
                  <a:srgbClr val="5D6B82"/>
                </a:solidFill>
                <a:latin typeface="Aptos" panose="020B0004020202020204" pitchFamily="34" charset="0"/>
              </a:rPr>
              <a:t>slot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EF05C9-33E6-C58A-6338-9F7D500A7354}"/>
              </a:ext>
            </a:extLst>
          </p:cNvPr>
          <p:cNvSpPr txBox="1"/>
          <p:nvPr/>
        </p:nvSpPr>
        <p:spPr>
          <a:xfrm>
            <a:off x="5440680" y="2606040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800" b="1">
                <a:solidFill>
                  <a:srgbClr val="20304A"/>
                </a:solidFill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1010E7-6A2A-4405-40C8-C06D5A45780F}"/>
              </a:ext>
            </a:extLst>
          </p:cNvPr>
          <p:cNvSpPr/>
          <p:nvPr/>
        </p:nvSpPr>
        <p:spPr>
          <a:xfrm>
            <a:off x="7680960" y="2103120"/>
            <a:ext cx="187452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71F3A5-2D52-1079-6707-4E1703187C25}"/>
              </a:ext>
            </a:extLst>
          </p:cNvPr>
          <p:cNvSpPr txBox="1"/>
          <p:nvPr/>
        </p:nvSpPr>
        <p:spPr>
          <a:xfrm>
            <a:off x="7680960" y="2221992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>
                <a:solidFill>
                  <a:srgbClr val="5D6B82"/>
                </a:solidFill>
                <a:latin typeface="Aptos" panose="020B0004020202020204" pitchFamily="34" charset="0"/>
              </a:rPr>
              <a:t>slot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58DCC0-82B5-69BB-7D9D-5B484EC14103}"/>
              </a:ext>
            </a:extLst>
          </p:cNvPr>
          <p:cNvSpPr txBox="1"/>
          <p:nvPr/>
        </p:nvSpPr>
        <p:spPr>
          <a:xfrm>
            <a:off x="7680960" y="2606040"/>
            <a:ext cx="1874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800" b="1">
                <a:solidFill>
                  <a:srgbClr val="20304A"/>
                </a:solidFill>
                <a:latin typeface="Aptos" panose="020B0004020202020204" pitchFamily="34" charset="0"/>
              </a:rPr>
              <a:t>empty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3BBA9-D032-F292-C364-9ABBFF5920A4}"/>
              </a:ext>
            </a:extLst>
          </p:cNvPr>
          <p:cNvSpPr txBox="1"/>
          <p:nvPr/>
        </p:nvSpPr>
        <p:spPr>
          <a:xfrm>
            <a:off x="960120" y="3401568"/>
            <a:ext cx="23774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00A99D"/>
                </a:solidFill>
                <a:latin typeface="Aptos" panose="020B0004020202020204" pitchFamily="34" charset="0"/>
              </a:rPr>
              <a:t>read_ptr -&gt; slot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0EA6B-3BC7-3585-6B21-28513D4A4B7C}"/>
              </a:ext>
            </a:extLst>
          </p:cNvPr>
          <p:cNvSpPr txBox="1"/>
          <p:nvPr/>
        </p:nvSpPr>
        <p:spPr>
          <a:xfrm>
            <a:off x="7662672" y="3401568"/>
            <a:ext cx="25603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write_ptr -&gt; slot 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C5FD33-1EC7-0402-0656-EFADD91BAC06}"/>
              </a:ext>
            </a:extLst>
          </p:cNvPr>
          <p:cNvSpPr/>
          <p:nvPr/>
        </p:nvSpPr>
        <p:spPr>
          <a:xfrm>
            <a:off x="777240" y="4041648"/>
            <a:ext cx="4983480" cy="12435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E0A689-3788-E0DA-B2CF-CC9BB80D3EFD}"/>
              </a:ext>
            </a:extLst>
          </p:cNvPr>
          <p:cNvSpPr/>
          <p:nvPr/>
        </p:nvSpPr>
        <p:spPr>
          <a:xfrm>
            <a:off x="868680" y="4206240"/>
            <a:ext cx="64008" cy="9144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6A5CC-61F9-0DF9-1D6D-DB0DF5EC6D2F}"/>
              </a:ext>
            </a:extLst>
          </p:cNvPr>
          <p:cNvSpPr txBox="1"/>
          <p:nvPr/>
        </p:nvSpPr>
        <p:spPr>
          <a:xfrm>
            <a:off x="1051560" y="4206240"/>
            <a:ext cx="4526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Read pointer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E6EBE7-3BFA-EE6E-8F4E-0251F2E1B2B6}"/>
              </a:ext>
            </a:extLst>
          </p:cNvPr>
          <p:cNvSpPr txBox="1"/>
          <p:nvPr/>
        </p:nvSpPr>
        <p:spPr>
          <a:xfrm>
            <a:off x="1051560" y="4700016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Points to the oldest flit. A successful transfer advances it.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71E8D1F-E86E-A315-C27A-2BDD59B46482}"/>
              </a:ext>
            </a:extLst>
          </p:cNvPr>
          <p:cNvSpPr/>
          <p:nvPr/>
        </p:nvSpPr>
        <p:spPr>
          <a:xfrm>
            <a:off x="5989320" y="4041648"/>
            <a:ext cx="4983480" cy="12435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BBC20F-04D6-F3E3-4CE1-287ADC441506}"/>
              </a:ext>
            </a:extLst>
          </p:cNvPr>
          <p:cNvSpPr/>
          <p:nvPr/>
        </p:nvSpPr>
        <p:spPr>
          <a:xfrm>
            <a:off x="6080760" y="4206240"/>
            <a:ext cx="64008" cy="914400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95C1E3-9B42-F447-F0C7-48058EED9E6B}"/>
              </a:ext>
            </a:extLst>
          </p:cNvPr>
          <p:cNvSpPr txBox="1"/>
          <p:nvPr/>
        </p:nvSpPr>
        <p:spPr>
          <a:xfrm>
            <a:off x="6263640" y="4206240"/>
            <a:ext cx="45262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Write pointer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21C8CD-D136-7270-E1BF-596481357F2B}"/>
              </a:ext>
            </a:extLst>
          </p:cNvPr>
          <p:cNvSpPr txBox="1"/>
          <p:nvPr/>
        </p:nvSpPr>
        <p:spPr>
          <a:xfrm>
            <a:off x="6263640" y="4700016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Points to the next place for a new flit. It wraps around to slot 0.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7D8260-EFF9-DD5E-11A6-24590FDB67E3}"/>
              </a:ext>
            </a:extLst>
          </p:cNvPr>
          <p:cNvSpPr txBox="1"/>
          <p:nvPr/>
        </p:nvSpPr>
        <p:spPr>
          <a:xfrm>
            <a:off x="777240" y="5605272"/>
            <a:ext cx="106984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FIFO count says how many slots are occupied; full and empty protect the queue.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20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FB3BE-4290-F415-96B0-78A745E54CAB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82DD5-B698-FBFD-0ADB-6B89FFE9167A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INPUT BUFFER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B396F-ABC4-7772-BEA4-F999F086B5D6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Input buffer: the router's front desk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2C691E-EAD8-6BFD-3D3F-BF46FE8E99C3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1AC46F-D6E3-6E43-97B0-86700AADFB4C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160FB-670E-6D88-48E1-8FFBFF1B17E1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9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795492-91A3-D24E-28EB-5D172109AF61}"/>
              </a:ext>
            </a:extLst>
          </p:cNvPr>
          <p:cNvSpPr/>
          <p:nvPr/>
        </p:nvSpPr>
        <p:spPr>
          <a:xfrm>
            <a:off x="868680" y="1828800"/>
            <a:ext cx="3017520" cy="1234440"/>
          </a:xfrm>
          <a:prstGeom prst="roundRect">
            <a:avLst/>
          </a:prstGeom>
          <a:solidFill>
            <a:srgbClr val="E7EFFF"/>
          </a:solidFill>
          <a:ln w="15240">
            <a:solidFill>
              <a:srgbClr val="37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52B78-5491-B2C9-2EA4-5F20C3D60C94}"/>
              </a:ext>
            </a:extLst>
          </p:cNvPr>
          <p:cNvSpPr txBox="1"/>
          <p:nvPr/>
        </p:nvSpPr>
        <p:spPr>
          <a:xfrm>
            <a:off x="868680" y="2084832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100" b="1">
                <a:solidFill>
                  <a:srgbClr val="20304A"/>
                </a:solidFill>
                <a:latin typeface="Aptos" panose="020B0004020202020204" pitchFamily="34" charset="0"/>
              </a:rPr>
              <a:t>UPSTREAM
SENDER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7F5A6-46D6-4B3A-6FF4-48FC84857ACB}"/>
              </a:ext>
            </a:extLst>
          </p:cNvPr>
          <p:cNvSpPr txBox="1"/>
          <p:nvPr/>
        </p:nvSpPr>
        <p:spPr>
          <a:xfrm>
            <a:off x="1005840" y="3264408"/>
            <a:ext cx="2743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377DFF"/>
                </a:solidFill>
                <a:latin typeface="Aptos" panose="020B0004020202020204" pitchFamily="34" charset="0"/>
              </a:rPr>
              <a:t>valid +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18321F-F0E2-8071-7CE4-0AD0E9B48528}"/>
              </a:ext>
            </a:extLst>
          </p:cNvPr>
          <p:cNvSpPr txBox="1"/>
          <p:nvPr/>
        </p:nvSpPr>
        <p:spPr>
          <a:xfrm>
            <a:off x="3968496" y="2221992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7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F7B7C9-9162-9E9A-7BA8-50F55563BABF}"/>
              </a:ext>
            </a:extLst>
          </p:cNvPr>
          <p:cNvSpPr/>
          <p:nvPr/>
        </p:nvSpPr>
        <p:spPr>
          <a:xfrm>
            <a:off x="4709160" y="1673352"/>
            <a:ext cx="2743200" cy="1536192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5170A-947A-ABE5-9360-1F0EBD918407}"/>
              </a:ext>
            </a:extLst>
          </p:cNvPr>
          <p:cNvSpPr txBox="1"/>
          <p:nvPr/>
        </p:nvSpPr>
        <p:spPr>
          <a:xfrm>
            <a:off x="4709160" y="1938528"/>
            <a:ext cx="2743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100" b="1">
                <a:solidFill>
                  <a:srgbClr val="FFFFFF"/>
                </a:solidFill>
                <a:latin typeface="Aptos" panose="020B0004020202020204" pitchFamily="34" charset="0"/>
              </a:rPr>
              <a:t>INPUT FIFO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8F47C-D174-097E-FD57-42AC3BB3ECD2}"/>
              </a:ext>
            </a:extLst>
          </p:cNvPr>
          <p:cNvSpPr txBox="1"/>
          <p:nvPr/>
        </p:nvSpPr>
        <p:spPr>
          <a:xfrm>
            <a:off x="4709160" y="2423160"/>
            <a:ext cx="2743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>
                <a:solidFill>
                  <a:srgbClr val="D4DEEF"/>
                </a:solidFill>
                <a:latin typeface="Aptos" panose="020B0004020202020204" pitchFamily="34" charset="0"/>
              </a:rPr>
              <a:t>stores up to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20BA98-E6A6-CDD8-7185-F07C75FE7D62}"/>
              </a:ext>
            </a:extLst>
          </p:cNvPr>
          <p:cNvSpPr txBox="1"/>
          <p:nvPr/>
        </p:nvSpPr>
        <p:spPr>
          <a:xfrm>
            <a:off x="7534656" y="2221992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700" b="1">
                <a:solidFill>
                  <a:srgbClr val="0B1733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95E553-5365-088C-DD83-9AF7CF327212}"/>
              </a:ext>
            </a:extLst>
          </p:cNvPr>
          <p:cNvSpPr/>
          <p:nvPr/>
        </p:nvSpPr>
        <p:spPr>
          <a:xfrm>
            <a:off x="8257032" y="1828800"/>
            <a:ext cx="3017520" cy="1234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00A9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279A36-9B3B-981F-F442-ED7A5F3D2E41}"/>
              </a:ext>
            </a:extLst>
          </p:cNvPr>
          <p:cNvSpPr txBox="1"/>
          <p:nvPr/>
        </p:nvSpPr>
        <p:spPr>
          <a:xfrm>
            <a:off x="8257032" y="2084832"/>
            <a:ext cx="3017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20304A"/>
                </a:solidFill>
                <a:latin typeface="Aptos" panose="020B0004020202020204" pitchFamily="34" charset="0"/>
              </a:rPr>
              <a:t>OLDEST FLIT
TO ROUTER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1D464B-28A6-C337-356D-7E6C0FD7C348}"/>
              </a:ext>
            </a:extLst>
          </p:cNvPr>
          <p:cNvSpPr/>
          <p:nvPr/>
        </p:nvSpPr>
        <p:spPr>
          <a:xfrm>
            <a:off x="960120" y="4014216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3750F-E34B-B81E-82D1-E857F7F686F7}"/>
              </a:ext>
            </a:extLst>
          </p:cNvPr>
          <p:cNvSpPr txBox="1"/>
          <p:nvPr/>
        </p:nvSpPr>
        <p:spPr>
          <a:xfrm>
            <a:off x="1207008" y="3840480"/>
            <a:ext cx="999439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The input FIFO preserves arrival order.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2E1CB9-FC32-09EB-3C28-89E55255A799}"/>
              </a:ext>
            </a:extLst>
          </p:cNvPr>
          <p:cNvSpPr/>
          <p:nvPr/>
        </p:nvSpPr>
        <p:spPr>
          <a:xfrm>
            <a:off x="960120" y="4544568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96AC34-6928-D8D4-F158-7D4E5748BE6F}"/>
              </a:ext>
            </a:extLst>
          </p:cNvPr>
          <p:cNvSpPr txBox="1"/>
          <p:nvPr/>
        </p:nvSpPr>
        <p:spPr>
          <a:xfrm>
            <a:off x="1207008" y="4370832"/>
            <a:ext cx="999439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If it fills, in_ready goes low so the sender waits.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EC3DEC-0E9C-EC3E-EF3C-9D969F064C8F}"/>
              </a:ext>
            </a:extLst>
          </p:cNvPr>
          <p:cNvSpPr/>
          <p:nvPr/>
        </p:nvSpPr>
        <p:spPr>
          <a:xfrm>
            <a:off x="960120" y="5074920"/>
            <a:ext cx="109728" cy="10972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7FFD26-2428-3C56-ED57-22BD8C4D7E5C}"/>
              </a:ext>
            </a:extLst>
          </p:cNvPr>
          <p:cNvSpPr txBox="1"/>
          <p:nvPr/>
        </p:nvSpPr>
        <p:spPr>
          <a:xfrm>
            <a:off x="1207008" y="4901184"/>
            <a:ext cx="999439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The router only removes the head after output acceptance.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02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3F50C8-6779-2486-FF56-413C730C8F27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2DBB9-2457-4915-1605-30582E3AEAB0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ROUTE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43786-8D3C-A333-D2F1-8907960F06BB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Switch allocator: read the label, request an output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A23CC5-49A4-1C58-9B84-B604771C3B51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63AEE8-5002-1856-8DCF-DD20BAB86AE1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A19C8-AC87-A9D0-FE8F-3DF17FCC6979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10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E433CB-C074-1B46-B793-9587D55DB7F6}"/>
              </a:ext>
            </a:extLst>
          </p:cNvPr>
          <p:cNvSpPr/>
          <p:nvPr/>
        </p:nvSpPr>
        <p:spPr>
          <a:xfrm>
            <a:off x="822960" y="1536192"/>
            <a:ext cx="2743200" cy="114300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335BD-D56A-6641-F028-DB43FE258D2C}"/>
              </a:ext>
            </a:extLst>
          </p:cNvPr>
          <p:cNvSpPr txBox="1"/>
          <p:nvPr/>
        </p:nvSpPr>
        <p:spPr>
          <a:xfrm>
            <a:off x="822960" y="1865376"/>
            <a:ext cx="2743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100" b="1">
                <a:solidFill>
                  <a:srgbClr val="FFFFFF"/>
                </a:solidFill>
                <a:latin typeface="Aptos" panose="020B0004020202020204" pitchFamily="34" charset="0"/>
              </a:rPr>
              <a:t>FIFO head flit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D9096-8D12-5CA5-2DD4-5020D2BBECBC}"/>
              </a:ext>
            </a:extLst>
          </p:cNvPr>
          <p:cNvSpPr txBox="1"/>
          <p:nvPr/>
        </p:nvSpPr>
        <p:spPr>
          <a:xfrm>
            <a:off x="3950208" y="1883664"/>
            <a:ext cx="32004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20304A"/>
                </a:solidFill>
                <a:latin typeface="Consolas" panose="020B0609020204030204" pitchFamily="49" charset="0"/>
              </a:rPr>
              <a:t>flit[47:45] =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70308-C0D3-E545-52AC-0F303CF0DFC2}"/>
              </a:ext>
            </a:extLst>
          </p:cNvPr>
          <p:cNvSpPr txBox="1"/>
          <p:nvPr/>
        </p:nvSpPr>
        <p:spPr>
          <a:xfrm>
            <a:off x="3547872" y="1865376"/>
            <a:ext cx="3200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0A99D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BB0645-647F-EB5F-29F7-75277C242227}"/>
              </a:ext>
            </a:extLst>
          </p:cNvPr>
          <p:cNvSpPr txBox="1"/>
          <p:nvPr/>
        </p:nvSpPr>
        <p:spPr>
          <a:xfrm>
            <a:off x="7040880" y="1865376"/>
            <a:ext cx="3200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00A99D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85A351-16E2-B254-5DC5-BCA54A719B6C}"/>
              </a:ext>
            </a:extLst>
          </p:cNvPr>
          <p:cNvSpPr/>
          <p:nvPr/>
        </p:nvSpPr>
        <p:spPr>
          <a:xfrm>
            <a:off x="7406640" y="1536192"/>
            <a:ext cx="3429000" cy="1143000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26362-2C31-6590-9949-2442E0D9CAAB}"/>
              </a:ext>
            </a:extLst>
          </p:cNvPr>
          <p:cNvSpPr txBox="1"/>
          <p:nvPr/>
        </p:nvSpPr>
        <p:spPr>
          <a:xfrm>
            <a:off x="7406640" y="1883664"/>
            <a:ext cx="3429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200" b="1">
                <a:solidFill>
                  <a:srgbClr val="377DFF"/>
                </a:solidFill>
                <a:latin typeface="Aptos" panose="020B0004020202020204" pitchFamily="34" charset="0"/>
              </a:rPr>
              <a:t>REQUEST EAST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8DC6E-5D56-CC2C-2337-D28EE164BB2F}"/>
              </a:ext>
            </a:extLst>
          </p:cNvPr>
          <p:cNvSpPr txBox="1"/>
          <p:nvPr/>
        </p:nvSpPr>
        <p:spPr>
          <a:xfrm>
            <a:off x="868680" y="3127248"/>
            <a:ext cx="10424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800" b="1">
                <a:solidFill>
                  <a:srgbClr val="20304A"/>
                </a:solidFill>
                <a:latin typeface="Aptos" panose="020B0004020202020204" pitchFamily="34" charset="0"/>
              </a:rPr>
              <a:t>If the label is 0-4, request that output. If it is 5-7, mark the flit invalid.</a:t>
            </a:r>
            <a:endParaRPr lang="en-IN" sz="18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D92595-099A-CED6-1F2B-2B09BBC2815F}"/>
              </a:ext>
            </a:extLst>
          </p:cNvPr>
          <p:cNvSpPr/>
          <p:nvPr/>
        </p:nvSpPr>
        <p:spPr>
          <a:xfrm>
            <a:off x="868680" y="3977640"/>
            <a:ext cx="4937760" cy="1335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28ADB9-3FF3-F390-D502-C86B31305064}"/>
              </a:ext>
            </a:extLst>
          </p:cNvPr>
          <p:cNvSpPr/>
          <p:nvPr/>
        </p:nvSpPr>
        <p:spPr>
          <a:xfrm>
            <a:off x="960120" y="4142232"/>
            <a:ext cx="64008" cy="1005840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1793B3-85A9-B885-E84C-0DD33E379964}"/>
              </a:ext>
            </a:extLst>
          </p:cNvPr>
          <p:cNvSpPr txBox="1"/>
          <p:nvPr/>
        </p:nvSpPr>
        <p:spPr>
          <a:xfrm>
            <a:off x="1143000" y="414223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Request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F9E6E-5A48-97A3-B179-6883325766EA}"/>
              </a:ext>
            </a:extLst>
          </p:cNvPr>
          <p:cNvSpPr txBox="1"/>
          <p:nvPr/>
        </p:nvSpPr>
        <p:spPr>
          <a:xfrm>
            <a:off x="1143000" y="463600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"Input 0 has a valid flit, and it wants East."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041208-A008-A4F2-34C8-DAD6E04F4C9F}"/>
              </a:ext>
            </a:extLst>
          </p:cNvPr>
          <p:cNvSpPr/>
          <p:nvPr/>
        </p:nvSpPr>
        <p:spPr>
          <a:xfrm>
            <a:off x="6126480" y="3977640"/>
            <a:ext cx="4937759" cy="1335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5C08A1-53D6-FC20-D58C-B4EB3BD1D8C8}"/>
              </a:ext>
            </a:extLst>
          </p:cNvPr>
          <p:cNvSpPr/>
          <p:nvPr/>
        </p:nvSpPr>
        <p:spPr>
          <a:xfrm>
            <a:off x="6217920" y="4142232"/>
            <a:ext cx="64008" cy="100584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2F20F4-FC0D-D88C-9DC2-868017261546}"/>
              </a:ext>
            </a:extLst>
          </p:cNvPr>
          <p:cNvSpPr txBox="1"/>
          <p:nvPr/>
        </p:nvSpPr>
        <p:spPr>
          <a:xfrm>
            <a:off x="6400800" y="414223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Grant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479D8C-D9B7-FF08-6C83-E96ABEF53EE1}"/>
              </a:ext>
            </a:extLst>
          </p:cNvPr>
          <p:cNvSpPr txBox="1"/>
          <p:nvPr/>
        </p:nvSpPr>
        <p:spPr>
          <a:xfrm>
            <a:off x="6400800" y="463600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"East selected input 0. It may use the switch."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AE2283-ED60-1AE0-0BBE-A139B3F97D03}"/>
              </a:ext>
            </a:extLst>
          </p:cNvPr>
          <p:cNvSpPr txBox="1"/>
          <p:nvPr/>
        </p:nvSpPr>
        <p:spPr>
          <a:xfrm>
            <a:off x="868680" y="5596128"/>
            <a:ext cx="10424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The allocator decides who may travel; it does not edit the flit.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12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11244-7D8A-07EE-9F96-5EC7FA983EF9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F4D64-A9D5-5E2F-D1A5-B07E4E920ABF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FAIR SHARING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95CEB-8A8F-A848-56F4-9ED46387E4F6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Arbitration: take turns for a busy output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1D5211-80EC-2432-00A5-A3FABCE2AB74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57034E-421A-EA5A-6F06-B5FDEB1CB5F5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D3904-D7A9-F734-09EF-4FA560DE3891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11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4148D-C9DF-9EBF-59DC-49D8E2CA8B41}"/>
              </a:ext>
            </a:extLst>
          </p:cNvPr>
          <p:cNvSpPr txBox="1"/>
          <p:nvPr/>
        </p:nvSpPr>
        <p:spPr>
          <a:xfrm>
            <a:off x="822960" y="1234440"/>
            <a:ext cx="4572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20304A"/>
                </a:solidFill>
                <a:latin typeface="Aptos" panose="020B0004020202020204" pitchFamily="34" charset="0"/>
              </a:rPr>
              <a:t>Three inputs all want East</a:t>
            </a:r>
            <a:endParaRPr lang="en-IN" sz="21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895B2F-3358-567E-8F46-6C0C20B5697E}"/>
              </a:ext>
            </a:extLst>
          </p:cNvPr>
          <p:cNvSpPr/>
          <p:nvPr/>
        </p:nvSpPr>
        <p:spPr>
          <a:xfrm>
            <a:off x="868680" y="1965960"/>
            <a:ext cx="1371600" cy="384048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4A4BB-9635-5B8C-9D0B-96590C2EB875}"/>
              </a:ext>
            </a:extLst>
          </p:cNvPr>
          <p:cNvSpPr txBox="1"/>
          <p:nvPr/>
        </p:nvSpPr>
        <p:spPr>
          <a:xfrm>
            <a:off x="868680" y="2002536"/>
            <a:ext cx="1371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INPUT 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7F29EE-C83C-6235-1811-14BA59A88A36}"/>
              </a:ext>
            </a:extLst>
          </p:cNvPr>
          <p:cNvSpPr/>
          <p:nvPr/>
        </p:nvSpPr>
        <p:spPr>
          <a:xfrm>
            <a:off x="868680" y="2697480"/>
            <a:ext cx="1371600" cy="384048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7DB0F-2424-EACD-B32E-AA9C5455EA99}"/>
              </a:ext>
            </a:extLst>
          </p:cNvPr>
          <p:cNvSpPr txBox="1"/>
          <p:nvPr/>
        </p:nvSpPr>
        <p:spPr>
          <a:xfrm>
            <a:off x="868680" y="2734056"/>
            <a:ext cx="1371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INPUT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630ABB-549D-738C-8259-4649F86E93B3}"/>
              </a:ext>
            </a:extLst>
          </p:cNvPr>
          <p:cNvSpPr/>
          <p:nvPr/>
        </p:nvSpPr>
        <p:spPr>
          <a:xfrm>
            <a:off x="868680" y="3429000"/>
            <a:ext cx="1371600" cy="384048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25E17D-0584-0A66-D3F4-1BDC92C3ABD2}"/>
              </a:ext>
            </a:extLst>
          </p:cNvPr>
          <p:cNvSpPr txBox="1"/>
          <p:nvPr/>
        </p:nvSpPr>
        <p:spPr>
          <a:xfrm>
            <a:off x="868680" y="3465576"/>
            <a:ext cx="1371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0304A"/>
                </a:solidFill>
                <a:latin typeface="Aptos" panose="020B0004020202020204" pitchFamily="34" charset="0"/>
              </a:rPr>
              <a:t>INPUT 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A4EDB3-5E6C-C11D-961C-174654BF27AE}"/>
              </a:ext>
            </a:extLst>
          </p:cNvPr>
          <p:cNvCxnSpPr/>
          <p:nvPr/>
        </p:nvCxnSpPr>
        <p:spPr>
          <a:xfrm>
            <a:off x="2377440" y="2157984"/>
            <a:ext cx="2194560" cy="621792"/>
          </a:xfrm>
          <a:prstGeom prst="straightConnector1">
            <a:avLst/>
          </a:prstGeom>
          <a:ln w="25400">
            <a:solidFill>
              <a:srgbClr val="37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96B47C-E5DC-4FE6-5053-1A8D7A168630}"/>
              </a:ext>
            </a:extLst>
          </p:cNvPr>
          <p:cNvCxnSpPr/>
          <p:nvPr/>
        </p:nvCxnSpPr>
        <p:spPr>
          <a:xfrm>
            <a:off x="2377440" y="2889504"/>
            <a:ext cx="2194560" cy="0"/>
          </a:xfrm>
          <a:prstGeom prst="straightConnector1">
            <a:avLst/>
          </a:prstGeom>
          <a:ln w="25400">
            <a:solidFill>
              <a:srgbClr val="00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92753B-0B39-8F06-C1CA-1CEDE5C49549}"/>
              </a:ext>
            </a:extLst>
          </p:cNvPr>
          <p:cNvCxnSpPr/>
          <p:nvPr/>
        </p:nvCxnSpPr>
        <p:spPr>
          <a:xfrm flipV="1">
            <a:off x="2377440" y="2999232"/>
            <a:ext cx="2194560" cy="621792"/>
          </a:xfrm>
          <a:prstGeom prst="straightConnector1">
            <a:avLst/>
          </a:prstGeom>
          <a:ln w="25400">
            <a:solidFill>
              <a:srgbClr val="F2B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6D4AA7-50BB-0304-00FB-4C7ACAF66E39}"/>
              </a:ext>
            </a:extLst>
          </p:cNvPr>
          <p:cNvSpPr/>
          <p:nvPr/>
        </p:nvSpPr>
        <p:spPr>
          <a:xfrm>
            <a:off x="4617720" y="2331720"/>
            <a:ext cx="2377440" cy="1170432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43D4C-7DD7-0F75-B3BB-6A27088365E1}"/>
              </a:ext>
            </a:extLst>
          </p:cNvPr>
          <p:cNvSpPr txBox="1"/>
          <p:nvPr/>
        </p:nvSpPr>
        <p:spPr>
          <a:xfrm>
            <a:off x="4617720" y="2532888"/>
            <a:ext cx="23774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EAST
ARBITER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26D0BC-40FA-7745-E33E-66DFDC39A7CB}"/>
              </a:ext>
            </a:extLst>
          </p:cNvPr>
          <p:cNvSpPr txBox="1"/>
          <p:nvPr/>
        </p:nvSpPr>
        <p:spPr>
          <a:xfrm>
            <a:off x="7159752" y="2679192"/>
            <a:ext cx="4114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200" b="1">
                <a:solidFill>
                  <a:srgbClr val="00A99D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3B8395-CD36-5E9C-F512-7EECD0D882F3}"/>
              </a:ext>
            </a:extLst>
          </p:cNvPr>
          <p:cNvSpPr/>
          <p:nvPr/>
        </p:nvSpPr>
        <p:spPr>
          <a:xfrm>
            <a:off x="7635240" y="2331720"/>
            <a:ext cx="2468880" cy="1170432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8E814-8EE3-DE53-CD71-94E4F0CF534C}"/>
              </a:ext>
            </a:extLst>
          </p:cNvPr>
          <p:cNvSpPr txBox="1"/>
          <p:nvPr/>
        </p:nvSpPr>
        <p:spPr>
          <a:xfrm>
            <a:off x="7635240" y="2724912"/>
            <a:ext cx="24688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900" b="1">
                <a:solidFill>
                  <a:srgbClr val="377DFF"/>
                </a:solidFill>
                <a:latin typeface="Aptos" panose="020B0004020202020204" pitchFamily="34" charset="0"/>
              </a:rPr>
              <a:t>EAST OUTPUT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81C1322-B03F-D370-991D-FE8AF71A65DA}"/>
              </a:ext>
            </a:extLst>
          </p:cNvPr>
          <p:cNvSpPr/>
          <p:nvPr/>
        </p:nvSpPr>
        <p:spPr>
          <a:xfrm>
            <a:off x="868680" y="4251960"/>
            <a:ext cx="49377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911B4A-2B7B-44DA-66BF-07BEAE6B19B8}"/>
              </a:ext>
            </a:extLst>
          </p:cNvPr>
          <p:cNvSpPr/>
          <p:nvPr/>
        </p:nvSpPr>
        <p:spPr>
          <a:xfrm>
            <a:off x="960120" y="4416552"/>
            <a:ext cx="64008" cy="841248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2A13FA-CFE8-C64C-D13E-BF61F07540A8}"/>
              </a:ext>
            </a:extLst>
          </p:cNvPr>
          <p:cNvSpPr txBox="1"/>
          <p:nvPr/>
        </p:nvSpPr>
        <p:spPr>
          <a:xfrm>
            <a:off x="1143000" y="441655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Round robin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861288-10FF-060D-00BD-7503C954225D}"/>
              </a:ext>
            </a:extLst>
          </p:cNvPr>
          <p:cNvSpPr txBox="1"/>
          <p:nvPr/>
        </p:nvSpPr>
        <p:spPr>
          <a:xfrm>
            <a:off x="1143000" y="491032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After serving one input, start the next search after it.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F30484-E262-5131-CED3-89B54D12A8DC}"/>
              </a:ext>
            </a:extLst>
          </p:cNvPr>
          <p:cNvSpPr/>
          <p:nvPr/>
        </p:nvSpPr>
        <p:spPr>
          <a:xfrm>
            <a:off x="6172200" y="4251960"/>
            <a:ext cx="49377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8DD53F-CA95-B7E8-79F2-1A98E6200EE8}"/>
              </a:ext>
            </a:extLst>
          </p:cNvPr>
          <p:cNvSpPr/>
          <p:nvPr/>
        </p:nvSpPr>
        <p:spPr>
          <a:xfrm>
            <a:off x="6263640" y="4416552"/>
            <a:ext cx="64008" cy="841248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C7495-1EC3-24F2-F6D5-D5DE7608AE06}"/>
              </a:ext>
            </a:extLst>
          </p:cNvPr>
          <p:cNvSpPr txBox="1"/>
          <p:nvPr/>
        </p:nvSpPr>
        <p:spPr>
          <a:xfrm>
            <a:off x="6446520" y="441655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Why?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CDD693-2FBE-9BE2-DB8E-6B62D43564F4}"/>
              </a:ext>
            </a:extLst>
          </p:cNvPr>
          <p:cNvSpPr txBox="1"/>
          <p:nvPr/>
        </p:nvSpPr>
        <p:spPr>
          <a:xfrm>
            <a:off x="6446520" y="491032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No single input should hog the output forever.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BC1E0-0BCA-4D46-A310-FA1C934FB570}"/>
              </a:ext>
            </a:extLst>
          </p:cNvPr>
          <p:cNvSpPr txBox="1"/>
          <p:nvPr/>
        </p:nvSpPr>
        <p:spPr>
          <a:xfrm>
            <a:off x="868680" y="5715000"/>
            <a:ext cx="10332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Each output has its own arbiter, so two different outputs may serve traffic together.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78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1258E8-E015-0083-F9F6-D2C44A4DBDC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DA307-3E5E-E257-3786-717CE3E54CB3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STABLE TRANSFER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98D84-38F8-DB2B-0989-360F0BC5B86F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Backpressure: please wait, I am busy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69A024-2041-61C6-ED68-224258F428C6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31F5FD2-C521-AB56-A2B7-1F9D3C795CEB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CC7E2-E2AA-6ED1-4082-7AAEB534A7A7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12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323F1E-6D38-A0EB-3529-CFBE4BDA2464}"/>
              </a:ext>
            </a:extLst>
          </p:cNvPr>
          <p:cNvSpPr/>
          <p:nvPr/>
        </p:nvSpPr>
        <p:spPr>
          <a:xfrm>
            <a:off x="868680" y="1417320"/>
            <a:ext cx="4709160" cy="1417320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E2CB4-1FCA-8354-80B4-5B2EC5675F12}"/>
              </a:ext>
            </a:extLst>
          </p:cNvPr>
          <p:cNvSpPr txBox="1"/>
          <p:nvPr/>
        </p:nvSpPr>
        <p:spPr>
          <a:xfrm>
            <a:off x="1115568" y="1700784"/>
            <a:ext cx="4206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000" b="1">
                <a:solidFill>
                  <a:srgbClr val="20304A"/>
                </a:solidFill>
                <a:latin typeface="Aptos" panose="020B0004020202020204" pitchFamily="34" charset="0"/>
              </a:rPr>
              <a:t>Receiver: out_ready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69047-9FFD-A6AA-776E-73F9F6FBBECC}"/>
              </a:ext>
            </a:extLst>
          </p:cNvPr>
          <p:cNvSpPr txBox="1"/>
          <p:nvPr/>
        </p:nvSpPr>
        <p:spPr>
          <a:xfrm>
            <a:off x="1115568" y="2148840"/>
            <a:ext cx="4206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5D6B82"/>
                </a:solidFill>
                <a:latin typeface="Aptos" panose="020B0004020202020204" pitchFamily="34" charset="0"/>
              </a:rPr>
              <a:t>I cannot take the flit yet.</a:t>
            </a:r>
            <a:endParaRPr lang="en-IN" sz="17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45CC9C-17BE-D2E2-1871-973450D5F5D8}"/>
              </a:ext>
            </a:extLst>
          </p:cNvPr>
          <p:cNvSpPr/>
          <p:nvPr/>
        </p:nvSpPr>
        <p:spPr>
          <a:xfrm>
            <a:off x="6565392" y="1417320"/>
            <a:ext cx="4709160" cy="141732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9BF3F-AC17-6D7F-C12E-3670C35CC3ED}"/>
              </a:ext>
            </a:extLst>
          </p:cNvPr>
          <p:cNvSpPr txBox="1"/>
          <p:nvPr/>
        </p:nvSpPr>
        <p:spPr>
          <a:xfrm>
            <a:off x="6812280" y="1700784"/>
            <a:ext cx="4206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000" b="1">
                <a:solidFill>
                  <a:srgbClr val="20304A"/>
                </a:solidFill>
                <a:latin typeface="Aptos" panose="020B0004020202020204" pitchFamily="34" charset="0"/>
              </a:rPr>
              <a:t>Router: out_valid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B5D61-4F98-9601-B580-7924CC37B44C}"/>
              </a:ext>
            </a:extLst>
          </p:cNvPr>
          <p:cNvSpPr txBox="1"/>
          <p:nvPr/>
        </p:nvSpPr>
        <p:spPr>
          <a:xfrm>
            <a:off x="6812280" y="2148840"/>
            <a:ext cx="4206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5D6B82"/>
                </a:solidFill>
                <a:latin typeface="Aptos" panose="020B0004020202020204" pitchFamily="34" charset="0"/>
              </a:rPr>
              <a:t>I will keep the SAME flit ready.</a:t>
            </a:r>
            <a:endParaRPr lang="en-IN" sz="17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3C749-9FB3-26B0-F73C-01F6DA31B848}"/>
              </a:ext>
            </a:extLst>
          </p:cNvPr>
          <p:cNvSpPr txBox="1"/>
          <p:nvPr/>
        </p:nvSpPr>
        <p:spPr>
          <a:xfrm>
            <a:off x="5779008" y="1856232"/>
            <a:ext cx="5029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200" b="1">
                <a:solidFill>
                  <a:srgbClr val="377DFF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097ACF-20A0-7DC6-D921-7220A8A24710}"/>
              </a:ext>
            </a:extLst>
          </p:cNvPr>
          <p:cNvSpPr/>
          <p:nvPr/>
        </p:nvSpPr>
        <p:spPr>
          <a:xfrm>
            <a:off x="868680" y="3337560"/>
            <a:ext cx="4937760" cy="1335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D43A01-A1F1-4A95-AFA2-1AD5E2A38233}"/>
              </a:ext>
            </a:extLst>
          </p:cNvPr>
          <p:cNvSpPr/>
          <p:nvPr/>
        </p:nvSpPr>
        <p:spPr>
          <a:xfrm>
            <a:off x="960120" y="3502152"/>
            <a:ext cx="64008" cy="1005840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54C68-062B-4B6C-A117-974503D2E1D4}"/>
              </a:ext>
            </a:extLst>
          </p:cNvPr>
          <p:cNvSpPr txBox="1"/>
          <p:nvPr/>
        </p:nvSpPr>
        <p:spPr>
          <a:xfrm>
            <a:off x="1143000" y="350215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Grant lock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E7DFB-165B-9B1E-2263-BCF5FFE230B5}"/>
              </a:ext>
            </a:extLst>
          </p:cNvPr>
          <p:cNvSpPr txBox="1"/>
          <p:nvPr/>
        </p:nvSpPr>
        <p:spPr>
          <a:xfrm>
            <a:off x="1143000" y="399592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The arbiter remembers which input already owns this stalled output.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28AB03-3199-F97E-C96B-AB7973AF168D}"/>
              </a:ext>
            </a:extLst>
          </p:cNvPr>
          <p:cNvSpPr/>
          <p:nvPr/>
        </p:nvSpPr>
        <p:spPr>
          <a:xfrm>
            <a:off x="6172200" y="3337560"/>
            <a:ext cx="4937760" cy="1335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CC0570A-79F7-BA97-F837-ECADAA70B3D3}"/>
              </a:ext>
            </a:extLst>
          </p:cNvPr>
          <p:cNvSpPr/>
          <p:nvPr/>
        </p:nvSpPr>
        <p:spPr>
          <a:xfrm>
            <a:off x="6263640" y="3502152"/>
            <a:ext cx="64008" cy="100584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5F4BA-AF90-E491-2868-E26FCA427D94}"/>
              </a:ext>
            </a:extLst>
          </p:cNvPr>
          <p:cNvSpPr txBox="1"/>
          <p:nvPr/>
        </p:nvSpPr>
        <p:spPr>
          <a:xfrm>
            <a:off x="6446520" y="3502152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No FIFO pop yet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6812FA-A42F-DACE-5724-5EDDE8511615}"/>
              </a:ext>
            </a:extLst>
          </p:cNvPr>
          <p:cNvSpPr txBox="1"/>
          <p:nvPr/>
        </p:nvSpPr>
        <p:spPr>
          <a:xfrm>
            <a:off x="6446520" y="3995928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The flit stays at the FIFO head, so it cannot be lost or replaced.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AD98E8A-4CE6-0ED8-5C76-9FDB87317EFC}"/>
              </a:ext>
            </a:extLst>
          </p:cNvPr>
          <p:cNvSpPr/>
          <p:nvPr/>
        </p:nvSpPr>
        <p:spPr>
          <a:xfrm>
            <a:off x="914400" y="5102352"/>
            <a:ext cx="10332720" cy="68580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92661E-8486-6CA1-B2ED-E50BB7E5FE30}"/>
              </a:ext>
            </a:extLst>
          </p:cNvPr>
          <p:cNvSpPr txBox="1"/>
          <p:nvPr/>
        </p:nvSpPr>
        <p:spPr>
          <a:xfrm>
            <a:off x="1078992" y="5303520"/>
            <a:ext cx="100126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When out_ready becomes 1: the handshake happens, then the FIFO pops.</a:t>
            </a:r>
            <a:endParaRPr lang="en-IN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9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1E3083-04C9-3A62-B382-7B70B4D9EF5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BC7FF-3C8A-3B5F-2748-03C02B79E70E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MOVING THE FLIT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330C7-0CC8-63E0-648E-DA9235A2DDE6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500" b="1">
                <a:solidFill>
                  <a:srgbClr val="FFFFFF"/>
                </a:solidFill>
                <a:latin typeface="Aptos" panose="020B0004020202020204" pitchFamily="34" charset="0"/>
              </a:rPr>
              <a:t>Crossbar: the data switch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8DB6-8A98-60FE-9C93-B1190D89B715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DD28BC-292E-3406-3208-ECFCB0527A46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3106D-2AB8-9140-D9E3-B3186C9EDF1A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13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1C9374-6C5D-8BC0-8954-F015E2A63FC2}"/>
              </a:ext>
            </a:extLst>
          </p:cNvPr>
          <p:cNvSpPr/>
          <p:nvPr/>
        </p:nvSpPr>
        <p:spPr>
          <a:xfrm>
            <a:off x="868680" y="2011680"/>
            <a:ext cx="2331720" cy="1078992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00A9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9FDEB-0047-BE3A-0D0F-0A01A11B0137}"/>
              </a:ext>
            </a:extLst>
          </p:cNvPr>
          <p:cNvSpPr txBox="1"/>
          <p:nvPr/>
        </p:nvSpPr>
        <p:spPr>
          <a:xfrm>
            <a:off x="868680" y="2203704"/>
            <a:ext cx="2331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INPUT 0
flit 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340228-4492-2EEC-D17A-34E345CE5B6E}"/>
              </a:ext>
            </a:extLst>
          </p:cNvPr>
          <p:cNvCxnSpPr/>
          <p:nvPr/>
        </p:nvCxnSpPr>
        <p:spPr>
          <a:xfrm>
            <a:off x="3200400" y="2551176"/>
            <a:ext cx="2468880" cy="0"/>
          </a:xfrm>
          <a:prstGeom prst="straightConnector1">
            <a:avLst/>
          </a:prstGeom>
          <a:ln w="50800">
            <a:solidFill>
              <a:srgbClr val="00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6D08C5-16C8-3EA0-CCE3-03BFEA0B31D4}"/>
              </a:ext>
            </a:extLst>
          </p:cNvPr>
          <p:cNvSpPr/>
          <p:nvPr/>
        </p:nvSpPr>
        <p:spPr>
          <a:xfrm>
            <a:off x="5715000" y="1627632"/>
            <a:ext cx="1920240" cy="182880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C408D-737D-74CF-6963-DC59CD01242D}"/>
              </a:ext>
            </a:extLst>
          </p:cNvPr>
          <p:cNvSpPr txBox="1"/>
          <p:nvPr/>
        </p:nvSpPr>
        <p:spPr>
          <a:xfrm>
            <a:off x="5715000" y="2084832"/>
            <a:ext cx="1920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300" b="1">
                <a:solidFill>
                  <a:srgbClr val="FFFFFF"/>
                </a:solidFill>
                <a:latin typeface="Aptos" panose="020B0004020202020204" pitchFamily="34" charset="0"/>
              </a:rPr>
              <a:t>CROSS
BAR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1F2196-B6F4-E389-C3F6-388D9C7A4419}"/>
              </a:ext>
            </a:extLst>
          </p:cNvPr>
          <p:cNvCxnSpPr/>
          <p:nvPr/>
        </p:nvCxnSpPr>
        <p:spPr>
          <a:xfrm>
            <a:off x="7680960" y="2551176"/>
            <a:ext cx="2331720" cy="0"/>
          </a:xfrm>
          <a:prstGeom prst="straightConnector1">
            <a:avLst/>
          </a:prstGeom>
          <a:ln w="50800">
            <a:solidFill>
              <a:srgbClr val="37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54D1BE-6B24-075F-30EE-AAD0C8C827A2}"/>
              </a:ext>
            </a:extLst>
          </p:cNvPr>
          <p:cNvSpPr/>
          <p:nvPr/>
        </p:nvSpPr>
        <p:spPr>
          <a:xfrm>
            <a:off x="10040112" y="2011680"/>
            <a:ext cx="1280160" cy="1078992"/>
          </a:xfrm>
          <a:prstGeom prst="roundRect">
            <a:avLst/>
          </a:prstGeom>
          <a:solidFill>
            <a:srgbClr val="E7EFFF"/>
          </a:solidFill>
          <a:ln w="15240">
            <a:solidFill>
              <a:srgbClr val="37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511A1-C5F7-6C48-49C9-96E22EF59A3C}"/>
              </a:ext>
            </a:extLst>
          </p:cNvPr>
          <p:cNvSpPr txBox="1"/>
          <p:nvPr/>
        </p:nvSpPr>
        <p:spPr>
          <a:xfrm>
            <a:off x="10040112" y="2368296"/>
            <a:ext cx="1280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EAST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0908E-229C-3D7A-3E2B-BBE9D5E33B7E}"/>
              </a:ext>
            </a:extLst>
          </p:cNvPr>
          <p:cNvSpPr txBox="1"/>
          <p:nvPr/>
        </p:nvSpPr>
        <p:spPr>
          <a:xfrm>
            <a:off x="868680" y="3977640"/>
            <a:ext cx="104698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000" b="1">
                <a:solidFill>
                  <a:srgbClr val="20304A"/>
                </a:solidFill>
                <a:latin typeface="Aptos" panose="020B0004020202020204" pitchFamily="34" charset="0"/>
              </a:rPr>
              <a:t>A grant tells the crossbar which input bits to copy to each output.</a:t>
            </a:r>
            <a:endParaRPr lang="en-IN" sz="20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0C9991-EBB9-CA8C-262A-3432F63F9047}"/>
              </a:ext>
            </a:extLst>
          </p:cNvPr>
          <p:cNvSpPr/>
          <p:nvPr/>
        </p:nvSpPr>
        <p:spPr>
          <a:xfrm>
            <a:off x="1143000" y="4855464"/>
            <a:ext cx="109728" cy="109728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68043-F3CC-AFE0-9F05-4B7B0D6ED11D}"/>
              </a:ext>
            </a:extLst>
          </p:cNvPr>
          <p:cNvSpPr txBox="1"/>
          <p:nvPr/>
        </p:nvSpPr>
        <p:spPr>
          <a:xfrm>
            <a:off x="1389888" y="4681728"/>
            <a:ext cx="96286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The crossbar does not change the destination or payload.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6F986B-9967-4227-8123-662C937F75CA}"/>
              </a:ext>
            </a:extLst>
          </p:cNvPr>
          <p:cNvSpPr/>
          <p:nvPr/>
        </p:nvSpPr>
        <p:spPr>
          <a:xfrm>
            <a:off x="1143000" y="5321808"/>
            <a:ext cx="109728" cy="109728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8E77F-EDA5-DD2F-9CFD-01D8257A2FAD}"/>
              </a:ext>
            </a:extLst>
          </p:cNvPr>
          <p:cNvSpPr txBox="1"/>
          <p:nvPr/>
        </p:nvSpPr>
        <p:spPr>
          <a:xfrm>
            <a:off x="1389888" y="5148072"/>
            <a:ext cx="96286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An output can accept one flit each clock when ready stays high.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DB3C79-2040-2B48-987F-EC718B14BC4B}"/>
              </a:ext>
            </a:extLst>
          </p:cNvPr>
          <p:cNvSpPr/>
          <p:nvPr/>
        </p:nvSpPr>
        <p:spPr>
          <a:xfrm>
            <a:off x="1143000" y="5788152"/>
            <a:ext cx="109728" cy="109728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849F64-8F92-A95E-5462-D206A8011B82}"/>
              </a:ext>
            </a:extLst>
          </p:cNvPr>
          <p:cNvSpPr txBox="1"/>
          <p:nvPr/>
        </p:nvSpPr>
        <p:spPr>
          <a:xfrm>
            <a:off x="1389888" y="5614416"/>
            <a:ext cx="962863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0304A"/>
                </a:solidFill>
                <a:latin typeface="Aptos" panose="020B0004020202020204" pitchFamily="34" charset="0"/>
              </a:rPr>
              <a:t>Only an accepted flit causes its source FIFO to pop.</a:t>
            </a:r>
            <a:endParaRPr lang="en-IN" sz="1600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587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BA5436-794F-8D1E-63C7-03B00ADA58D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B41D0-A87F-AB39-C3DF-0D66C086CE17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RTL HIERARCHY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BF6A8-306B-707D-1888-004170779900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Top-level router: connect the pieces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1FC509-FC38-B173-EAB4-878B8AE72EF3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1ECC55-0601-5CAC-527C-92D7A514A3A6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3F65E-1034-0BCD-9543-50F0CDD187A6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14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BE09C5-EE13-E482-91E6-3ED9449895A3}"/>
              </a:ext>
            </a:extLst>
          </p:cNvPr>
          <p:cNvSpPr/>
          <p:nvPr/>
        </p:nvSpPr>
        <p:spPr>
          <a:xfrm>
            <a:off x="841248" y="1325880"/>
            <a:ext cx="1051560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33D6B-FF4E-C11F-2FA6-0808FE557D4C}"/>
              </a:ext>
            </a:extLst>
          </p:cNvPr>
          <p:cNvSpPr txBox="1"/>
          <p:nvPr/>
        </p:nvSpPr>
        <p:spPr>
          <a:xfrm>
            <a:off x="1115568" y="1554480"/>
            <a:ext cx="9966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2300" b="1">
                <a:solidFill>
                  <a:srgbClr val="0B1733"/>
                </a:solidFill>
                <a:latin typeface="Aptos" panose="020B0004020202020204" pitchFamily="34" charset="0"/>
              </a:rPr>
              <a:t>router_5port.sv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0802A2-CB9F-4750-C04A-425F9E3418A9}"/>
              </a:ext>
            </a:extLst>
          </p:cNvPr>
          <p:cNvSpPr/>
          <p:nvPr/>
        </p:nvSpPr>
        <p:spPr>
          <a:xfrm>
            <a:off x="1143000" y="2322576"/>
            <a:ext cx="804672" cy="68580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3AE075-7F8B-C766-4F3A-1373EB1C582D}"/>
              </a:ext>
            </a:extLst>
          </p:cNvPr>
          <p:cNvSpPr txBox="1"/>
          <p:nvPr/>
        </p:nvSpPr>
        <p:spPr>
          <a:xfrm>
            <a:off x="1143000" y="2532888"/>
            <a:ext cx="80467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20304A"/>
                </a:solidFill>
                <a:latin typeface="Aptos" panose="020B0004020202020204" pitchFamily="34" charset="0"/>
              </a:rPr>
              <a:t>FIFO 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ABBFBF-D236-A914-031F-BB22CE6D0510}"/>
              </a:ext>
            </a:extLst>
          </p:cNvPr>
          <p:cNvSpPr/>
          <p:nvPr/>
        </p:nvSpPr>
        <p:spPr>
          <a:xfrm>
            <a:off x="2075688" y="2322576"/>
            <a:ext cx="804672" cy="68580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31515-C34D-956A-2786-F38B6E2D9B89}"/>
              </a:ext>
            </a:extLst>
          </p:cNvPr>
          <p:cNvSpPr txBox="1"/>
          <p:nvPr/>
        </p:nvSpPr>
        <p:spPr>
          <a:xfrm>
            <a:off x="2075688" y="2532888"/>
            <a:ext cx="80467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20304A"/>
                </a:solidFill>
                <a:latin typeface="Aptos" panose="020B0004020202020204" pitchFamily="34" charset="0"/>
              </a:rPr>
              <a:t>FIFO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FC3903-DAB1-B44A-AD1B-3B498916AA13}"/>
              </a:ext>
            </a:extLst>
          </p:cNvPr>
          <p:cNvSpPr/>
          <p:nvPr/>
        </p:nvSpPr>
        <p:spPr>
          <a:xfrm>
            <a:off x="3008376" y="2322576"/>
            <a:ext cx="804672" cy="68580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E751E-300C-B10E-E2F2-3E5A02A841F8}"/>
              </a:ext>
            </a:extLst>
          </p:cNvPr>
          <p:cNvSpPr txBox="1"/>
          <p:nvPr/>
        </p:nvSpPr>
        <p:spPr>
          <a:xfrm>
            <a:off x="3008376" y="2532888"/>
            <a:ext cx="80467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20304A"/>
                </a:solidFill>
                <a:latin typeface="Aptos" panose="020B0004020202020204" pitchFamily="34" charset="0"/>
              </a:rPr>
              <a:t>FIFO 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93DF-E25E-6ACE-323F-AB2A48E9C777}"/>
              </a:ext>
            </a:extLst>
          </p:cNvPr>
          <p:cNvSpPr/>
          <p:nvPr/>
        </p:nvSpPr>
        <p:spPr>
          <a:xfrm>
            <a:off x="3941064" y="2322576"/>
            <a:ext cx="804672" cy="68580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7E0641-29DC-AD93-2998-3C561E48CD42}"/>
              </a:ext>
            </a:extLst>
          </p:cNvPr>
          <p:cNvSpPr txBox="1"/>
          <p:nvPr/>
        </p:nvSpPr>
        <p:spPr>
          <a:xfrm>
            <a:off x="3941064" y="2532888"/>
            <a:ext cx="80467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20304A"/>
                </a:solidFill>
                <a:latin typeface="Aptos" panose="020B0004020202020204" pitchFamily="34" charset="0"/>
              </a:rPr>
              <a:t>FIFO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2BA0CC-B7FE-05CF-3072-91327E76C24D}"/>
              </a:ext>
            </a:extLst>
          </p:cNvPr>
          <p:cNvSpPr/>
          <p:nvPr/>
        </p:nvSpPr>
        <p:spPr>
          <a:xfrm>
            <a:off x="4873752" y="2322576"/>
            <a:ext cx="804672" cy="68580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4CEB2-BD68-0A33-B3C9-068B1F59C954}"/>
              </a:ext>
            </a:extLst>
          </p:cNvPr>
          <p:cNvSpPr txBox="1"/>
          <p:nvPr/>
        </p:nvSpPr>
        <p:spPr>
          <a:xfrm>
            <a:off x="4873752" y="2532888"/>
            <a:ext cx="80467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20304A"/>
                </a:solidFill>
                <a:latin typeface="Aptos" panose="020B0004020202020204" pitchFamily="34" charset="0"/>
              </a:rPr>
              <a:t>FIFO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778057-C9EE-CA6A-9ACD-9440F2BD21EC}"/>
              </a:ext>
            </a:extLst>
          </p:cNvPr>
          <p:cNvSpPr txBox="1"/>
          <p:nvPr/>
        </p:nvSpPr>
        <p:spPr>
          <a:xfrm>
            <a:off x="1143000" y="3090672"/>
            <a:ext cx="96012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5 input_buffer instances (each wraps one FIFO)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417954-2E2F-773F-5297-AFBD5FC81BBE}"/>
              </a:ext>
            </a:extLst>
          </p:cNvPr>
          <p:cNvCxnSpPr/>
          <p:nvPr/>
        </p:nvCxnSpPr>
        <p:spPr>
          <a:xfrm>
            <a:off x="6080760" y="3438144"/>
            <a:ext cx="0" cy="384048"/>
          </a:xfrm>
          <a:prstGeom prst="straightConnector1">
            <a:avLst/>
          </a:prstGeom>
          <a:ln w="25400">
            <a:solidFill>
              <a:srgbClr val="0B1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5E5526-E946-C8F3-A9A7-7E62DD29660B}"/>
              </a:ext>
            </a:extLst>
          </p:cNvPr>
          <p:cNvSpPr/>
          <p:nvPr/>
        </p:nvSpPr>
        <p:spPr>
          <a:xfrm>
            <a:off x="2761488" y="3822192"/>
            <a:ext cx="6629400" cy="758952"/>
          </a:xfrm>
          <a:prstGeom prst="roundRect">
            <a:avLst/>
          </a:prstGeom>
          <a:solidFill>
            <a:srgbClr val="FFF3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86024C-C806-9C53-8E2C-3B0FCE80A78E}"/>
              </a:ext>
            </a:extLst>
          </p:cNvPr>
          <p:cNvSpPr txBox="1"/>
          <p:nvPr/>
        </p:nvSpPr>
        <p:spPr>
          <a:xfrm>
            <a:off x="2761488" y="4023360"/>
            <a:ext cx="66294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20304A"/>
                </a:solidFill>
                <a:latin typeface="Aptos" panose="020B0004020202020204" pitchFamily="34" charset="0"/>
              </a:rPr>
              <a:t>switch_allocator = destination decode + 5 arbiters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0BC988-CB26-F07E-61DF-0AAEADFCB7F5}"/>
              </a:ext>
            </a:extLst>
          </p:cNvPr>
          <p:cNvCxnSpPr/>
          <p:nvPr/>
        </p:nvCxnSpPr>
        <p:spPr>
          <a:xfrm>
            <a:off x="6080760" y="4590288"/>
            <a:ext cx="0" cy="338328"/>
          </a:xfrm>
          <a:prstGeom prst="straightConnector1">
            <a:avLst/>
          </a:prstGeom>
          <a:ln w="25400">
            <a:solidFill>
              <a:srgbClr val="0B1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19EAA5-1EC9-F3C5-7617-B3308A181F3B}"/>
              </a:ext>
            </a:extLst>
          </p:cNvPr>
          <p:cNvSpPr/>
          <p:nvPr/>
        </p:nvSpPr>
        <p:spPr>
          <a:xfrm>
            <a:off x="3977640" y="4919472"/>
            <a:ext cx="4206240" cy="566928"/>
          </a:xfrm>
          <a:prstGeom prst="roundRect">
            <a:avLst/>
          </a:prstGeom>
          <a:solidFill>
            <a:srgbClr val="E7E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49FD51-9B6B-95C1-0B8F-2484C078B248}"/>
              </a:ext>
            </a:extLst>
          </p:cNvPr>
          <p:cNvSpPr txBox="1"/>
          <p:nvPr/>
        </p:nvSpPr>
        <p:spPr>
          <a:xfrm>
            <a:off x="3977640" y="5047488"/>
            <a:ext cx="4206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20304A"/>
                </a:solidFill>
                <a:latin typeface="Aptos" panose="020B0004020202020204" pitchFamily="34" charset="0"/>
              </a:rPr>
              <a:t>crossbar = route granted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3E0750-0BAA-0BB2-2600-88A33FD114F5}"/>
              </a:ext>
            </a:extLst>
          </p:cNvPr>
          <p:cNvSpPr txBox="1"/>
          <p:nvPr/>
        </p:nvSpPr>
        <p:spPr>
          <a:xfrm>
            <a:off x="868680" y="5833872"/>
            <a:ext cx="10515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The top level mostly connects signals. The smaller modules do the individual jobs.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892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DF1619-79BD-4EB4-5B38-9B0399C43ECC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B1EB2-E778-F704-FD64-DF1E8E8A48CF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ONE FLIT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D3113-5E52-35C1-851A-17CA780C9C2E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Worked example: Local input wants East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858799-F603-4B8C-D69A-9ABDC5263128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438828-13D6-6597-97D3-2DA0422A4EF5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3AF25-7479-1E3D-F710-85E4EA2354D1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15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25142-A465-6780-0156-2F1F9ED0ACD3}"/>
              </a:ext>
            </a:extLst>
          </p:cNvPr>
          <p:cNvSpPr txBox="1"/>
          <p:nvPr/>
        </p:nvSpPr>
        <p:spPr>
          <a:xfrm>
            <a:off x="777240" y="1161288"/>
            <a:ext cx="106984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20304A"/>
                </a:solidFill>
                <a:latin typeface="Aptos" panose="020B0004020202020204" pitchFamily="34" charset="0"/>
              </a:rPr>
              <a:t>We send payload 203 from input 0 (Local), with destination 3 (East).</a:t>
            </a:r>
            <a:endParaRPr lang="en-IN" sz="20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AA84AC-C2B3-AA8E-3FA7-53C0F65D142C}"/>
              </a:ext>
            </a:extLst>
          </p:cNvPr>
          <p:cNvSpPr/>
          <p:nvPr/>
        </p:nvSpPr>
        <p:spPr>
          <a:xfrm>
            <a:off x="914400" y="1847088"/>
            <a:ext cx="10287000" cy="932688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84750-3D12-27F4-01E9-7DE0BDCE4389}"/>
              </a:ext>
            </a:extLst>
          </p:cNvPr>
          <p:cNvSpPr txBox="1"/>
          <p:nvPr/>
        </p:nvSpPr>
        <p:spPr>
          <a:xfrm>
            <a:off x="1143000" y="2093976"/>
            <a:ext cx="40690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Consolas" panose="020B0609020204030204" pitchFamily="49" charset="0"/>
              </a:rPr>
              <a:t>{3'd3, 45'd203}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FF82E-784C-F4AB-C1A2-C75C0C489F46}"/>
              </a:ext>
            </a:extLst>
          </p:cNvPr>
          <p:cNvSpPr txBox="1"/>
          <p:nvPr/>
        </p:nvSpPr>
        <p:spPr>
          <a:xfrm>
            <a:off x="5760720" y="2130552"/>
            <a:ext cx="49377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>
                <a:solidFill>
                  <a:srgbClr val="D4DEEF"/>
                </a:solidFill>
                <a:latin typeface="Aptos" panose="020B0004020202020204" pitchFamily="34" charset="0"/>
              </a:rPr>
              <a:t>destination  |  payload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AF30BE-7247-C976-00BB-600E5824D103}"/>
              </a:ext>
            </a:extLst>
          </p:cNvPr>
          <p:cNvSpPr/>
          <p:nvPr/>
        </p:nvSpPr>
        <p:spPr>
          <a:xfrm>
            <a:off x="841248" y="3246120"/>
            <a:ext cx="3438144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207138-DE8F-E100-F624-712B2437E948}"/>
              </a:ext>
            </a:extLst>
          </p:cNvPr>
          <p:cNvSpPr/>
          <p:nvPr/>
        </p:nvSpPr>
        <p:spPr>
          <a:xfrm>
            <a:off x="932688" y="3410712"/>
            <a:ext cx="64008" cy="1243584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38DD0-4DC1-EBE1-4E8F-A7AB8ACFD929}"/>
              </a:ext>
            </a:extLst>
          </p:cNvPr>
          <p:cNvSpPr txBox="1"/>
          <p:nvPr/>
        </p:nvSpPr>
        <p:spPr>
          <a:xfrm>
            <a:off x="1115568" y="3410712"/>
            <a:ext cx="298094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1. SEND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49EA36-A81E-5E4E-94F4-0DA0DEA4A826}"/>
              </a:ext>
            </a:extLst>
          </p:cNvPr>
          <p:cNvSpPr txBox="1"/>
          <p:nvPr/>
        </p:nvSpPr>
        <p:spPr>
          <a:xfrm>
            <a:off x="1115568" y="3904488"/>
            <a:ext cx="293522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Testbench puts the flit on input 0 and asserts in_valid[0].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789085-0BA5-F1DC-BBD9-9D8341A6962F}"/>
              </a:ext>
            </a:extLst>
          </p:cNvPr>
          <p:cNvSpPr/>
          <p:nvPr/>
        </p:nvSpPr>
        <p:spPr>
          <a:xfrm>
            <a:off x="4389120" y="3246120"/>
            <a:ext cx="3438144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E58556-6FED-CA12-C042-ADA2DC309EE7}"/>
              </a:ext>
            </a:extLst>
          </p:cNvPr>
          <p:cNvSpPr/>
          <p:nvPr/>
        </p:nvSpPr>
        <p:spPr>
          <a:xfrm>
            <a:off x="4480560" y="3410712"/>
            <a:ext cx="64008" cy="1243584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7E4642-858D-8949-35BB-DEFC96F8717F}"/>
              </a:ext>
            </a:extLst>
          </p:cNvPr>
          <p:cNvSpPr txBox="1"/>
          <p:nvPr/>
        </p:nvSpPr>
        <p:spPr>
          <a:xfrm>
            <a:off x="4663440" y="3410712"/>
            <a:ext cx="298094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2. STORE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433A04-4827-2F5C-F0FD-6B344E43EE9F}"/>
              </a:ext>
            </a:extLst>
          </p:cNvPr>
          <p:cNvSpPr txBox="1"/>
          <p:nvPr/>
        </p:nvSpPr>
        <p:spPr>
          <a:xfrm>
            <a:off x="4663440" y="3904488"/>
            <a:ext cx="293522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At a rising edge with in_ready[0], FIFO 0 stores the flit.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5253346-6DE5-5988-020E-4231558F08C9}"/>
              </a:ext>
            </a:extLst>
          </p:cNvPr>
          <p:cNvSpPr/>
          <p:nvPr/>
        </p:nvSpPr>
        <p:spPr>
          <a:xfrm>
            <a:off x="7936992" y="3246120"/>
            <a:ext cx="3438145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39DC1D-54EC-4D7C-7074-6762A80D1F04}"/>
              </a:ext>
            </a:extLst>
          </p:cNvPr>
          <p:cNvSpPr/>
          <p:nvPr/>
        </p:nvSpPr>
        <p:spPr>
          <a:xfrm>
            <a:off x="8028432" y="3410712"/>
            <a:ext cx="64007" cy="1243584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B8771-C1D1-BE64-726B-70D911FEF13F}"/>
              </a:ext>
            </a:extLst>
          </p:cNvPr>
          <p:cNvSpPr txBox="1"/>
          <p:nvPr/>
        </p:nvSpPr>
        <p:spPr>
          <a:xfrm>
            <a:off x="8211312" y="3410712"/>
            <a:ext cx="298094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3. DECODE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62D039-7C08-E2A7-04EE-B208FE4D9230}"/>
              </a:ext>
            </a:extLst>
          </p:cNvPr>
          <p:cNvSpPr txBox="1"/>
          <p:nvPr/>
        </p:nvSpPr>
        <p:spPr>
          <a:xfrm>
            <a:off x="8211312" y="3904488"/>
            <a:ext cx="293522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Allocator reads top bits 011. Decimal 3 means East.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7CF1C5-0CF2-8BC0-AA40-2DEA72882657}"/>
              </a:ext>
            </a:extLst>
          </p:cNvPr>
          <p:cNvSpPr txBox="1"/>
          <p:nvPr/>
        </p:nvSpPr>
        <p:spPr>
          <a:xfrm>
            <a:off x="868680" y="5257800"/>
            <a:ext cx="104241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>
                <a:solidFill>
                  <a:srgbClr val="5D6B82"/>
                </a:solidFill>
                <a:latin typeface="Aptos" panose="020B0004020202020204" pitchFamily="34" charset="0"/>
              </a:rPr>
              <a:t>Input says where it arrived. Destination bits say where it must leave.</a:t>
            </a:r>
            <a:endParaRPr lang="en-IN" sz="17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5EA04C-E2F0-0234-62DF-0008E9DF92EB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FA283-0A99-ED71-0929-16FD0CF3C84D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ONE FLIT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9CD42-E108-8454-BCBC-FA3FCF1928A7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Worked example: East accepts the flit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43F982-D6C1-769A-4C96-0160EB5565BB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F8F3DF-25CC-F4EF-5B41-59E7D4CEEEEC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82F2E-B3CB-5A35-7E37-B7DBF260396C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16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8167B5-A5D1-9A16-416A-772C8533D6F9}"/>
              </a:ext>
            </a:extLst>
          </p:cNvPr>
          <p:cNvSpPr/>
          <p:nvPr/>
        </p:nvSpPr>
        <p:spPr>
          <a:xfrm>
            <a:off x="777240" y="1417320"/>
            <a:ext cx="3401568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467E78-32E0-FAB2-97D3-C807A0E15675}"/>
              </a:ext>
            </a:extLst>
          </p:cNvPr>
          <p:cNvSpPr/>
          <p:nvPr/>
        </p:nvSpPr>
        <p:spPr>
          <a:xfrm>
            <a:off x="868680" y="1581912"/>
            <a:ext cx="64008" cy="1152144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EFE7D-D63F-2602-9C9E-C28AE07A8FAD}"/>
              </a:ext>
            </a:extLst>
          </p:cNvPr>
          <p:cNvSpPr txBox="1"/>
          <p:nvPr/>
        </p:nvSpPr>
        <p:spPr>
          <a:xfrm>
            <a:off x="1051560" y="1581912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4. ARBITRATE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E2444-2F7A-B433-40CD-FC2A2BDBC291}"/>
              </a:ext>
            </a:extLst>
          </p:cNvPr>
          <p:cNvSpPr txBox="1"/>
          <p:nvPr/>
        </p:nvSpPr>
        <p:spPr>
          <a:xfrm>
            <a:off x="1051560" y="2075688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East chooses input 0 (if another input also wants East, one waits).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5F6183-34C0-22EB-7021-55889916AE9B}"/>
              </a:ext>
            </a:extLst>
          </p:cNvPr>
          <p:cNvSpPr/>
          <p:nvPr/>
        </p:nvSpPr>
        <p:spPr>
          <a:xfrm>
            <a:off x="4389120" y="1417320"/>
            <a:ext cx="3401568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8B14AB-6237-1EC9-8386-90C8364956CD}"/>
              </a:ext>
            </a:extLst>
          </p:cNvPr>
          <p:cNvSpPr/>
          <p:nvPr/>
        </p:nvSpPr>
        <p:spPr>
          <a:xfrm>
            <a:off x="4480560" y="1581912"/>
            <a:ext cx="64008" cy="1152144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8731E-9C2F-546B-44EB-D5F032B3367E}"/>
              </a:ext>
            </a:extLst>
          </p:cNvPr>
          <p:cNvSpPr txBox="1"/>
          <p:nvPr/>
        </p:nvSpPr>
        <p:spPr>
          <a:xfrm>
            <a:off x="4663440" y="1581912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5. SWITCH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BD5FD-F04F-2B72-00A4-38396888ACA6}"/>
              </a:ext>
            </a:extLst>
          </p:cNvPr>
          <p:cNvSpPr txBox="1"/>
          <p:nvPr/>
        </p:nvSpPr>
        <p:spPr>
          <a:xfrm>
            <a:off x="4663440" y="2075688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Crossbar copies the exact 48 bits to out_flit[3].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EC116D-D859-2047-F385-7B2637EF65D3}"/>
              </a:ext>
            </a:extLst>
          </p:cNvPr>
          <p:cNvSpPr/>
          <p:nvPr/>
        </p:nvSpPr>
        <p:spPr>
          <a:xfrm>
            <a:off x="8001000" y="1417320"/>
            <a:ext cx="3401568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4539A3-4CB1-32B6-8A27-82515FF9369F}"/>
              </a:ext>
            </a:extLst>
          </p:cNvPr>
          <p:cNvSpPr/>
          <p:nvPr/>
        </p:nvSpPr>
        <p:spPr>
          <a:xfrm>
            <a:off x="8092440" y="1581912"/>
            <a:ext cx="64008" cy="1152144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54DFA6-58CC-079D-B0FA-6E1114439879}"/>
              </a:ext>
            </a:extLst>
          </p:cNvPr>
          <p:cNvSpPr txBox="1"/>
          <p:nvPr/>
        </p:nvSpPr>
        <p:spPr>
          <a:xfrm>
            <a:off x="8275320" y="1581912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6. ACCEPT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12827-11C2-8EC1-4F4D-1A9DBC20A946}"/>
              </a:ext>
            </a:extLst>
          </p:cNvPr>
          <p:cNvSpPr txBox="1"/>
          <p:nvPr/>
        </p:nvSpPr>
        <p:spPr>
          <a:xfrm>
            <a:off x="8275320" y="2075688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out_valid[3] and out_ready[3] meet at a rising edge. FIFO 0 pops.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0229A5-1D5B-35FD-16C2-9086E15B1690}"/>
              </a:ext>
            </a:extLst>
          </p:cNvPr>
          <p:cNvSpPr/>
          <p:nvPr/>
        </p:nvSpPr>
        <p:spPr>
          <a:xfrm>
            <a:off x="914400" y="3401568"/>
            <a:ext cx="10332720" cy="100584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49257-31C8-23BB-2BC0-1E7C15FE36F2}"/>
              </a:ext>
            </a:extLst>
          </p:cNvPr>
          <p:cNvSpPr txBox="1"/>
          <p:nvPr/>
        </p:nvSpPr>
        <p:spPr>
          <a:xfrm>
            <a:off x="1097280" y="3685032"/>
            <a:ext cx="99669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000" b="1">
                <a:solidFill>
                  <a:srgbClr val="20304A"/>
                </a:solidFill>
                <a:latin typeface="Aptos" panose="020B0004020202020204" pitchFamily="34" charset="0"/>
              </a:rPr>
              <a:t>Expected output: East (3)  |  Same payload: 203  |  No bits changed</a:t>
            </a:r>
            <a:endParaRPr lang="en-IN" sz="20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39863-6F84-D8B6-8EC0-A7AA3E279AC7}"/>
              </a:ext>
            </a:extLst>
          </p:cNvPr>
          <p:cNvSpPr txBox="1"/>
          <p:nvPr/>
        </p:nvSpPr>
        <p:spPr>
          <a:xfrm>
            <a:off x="914400" y="4818888"/>
            <a:ext cx="10332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800" b="1">
                <a:solidFill>
                  <a:srgbClr val="0B1733"/>
                </a:solidFill>
                <a:latin typeface="Consolas" panose="020B0609020204030204" pitchFamily="49" charset="0"/>
              </a:rPr>
              <a:t>Hex example: 48'h6000000000CB   (top bits 011, lower payload 203)</a:t>
            </a:r>
            <a:endParaRPr lang="en-IN" sz="1800" b="1">
              <a:solidFill>
                <a:srgbClr val="0B1733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97657B-71D0-AB50-DD31-F4C195B99E06}"/>
              </a:ext>
            </a:extLst>
          </p:cNvPr>
          <p:cNvSpPr txBox="1"/>
          <p:nvPr/>
        </p:nvSpPr>
        <p:spPr>
          <a:xfrm>
            <a:off x="914400" y="5394960"/>
            <a:ext cx="10332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The testbench checks all 48 output bits against the expected flit.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6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AEAEA5-5ED5-D09B-3FE1-0E4DF044A6EE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820B9-5C8E-D80F-7284-85FCEA61EF5F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SIMULATION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7634C-3EEA-37F2-53DA-D7072F3A6191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The testbench is a pretend sender + checker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F590A2-485C-E1FB-11E5-B889DB6A2333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B2A05C-8512-6FCB-66B8-08454F69F70F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7EA56-865E-E813-9BCC-3D19FDC57595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17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856556-241E-7722-8422-6D6E3C8E102D}"/>
              </a:ext>
            </a:extLst>
          </p:cNvPr>
          <p:cNvSpPr/>
          <p:nvPr/>
        </p:nvSpPr>
        <p:spPr>
          <a:xfrm>
            <a:off x="749808" y="1298448"/>
            <a:ext cx="3401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52A066-22EB-7F50-4CC6-F615884C3087}"/>
              </a:ext>
            </a:extLst>
          </p:cNvPr>
          <p:cNvSpPr/>
          <p:nvPr/>
        </p:nvSpPr>
        <p:spPr>
          <a:xfrm>
            <a:off x="841248" y="1463040"/>
            <a:ext cx="64008" cy="1362456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31EF17-FC67-9DEB-7FE2-3FD3AF4F0E32}"/>
              </a:ext>
            </a:extLst>
          </p:cNvPr>
          <p:cNvSpPr txBox="1"/>
          <p:nvPr/>
        </p:nvSpPr>
        <p:spPr>
          <a:xfrm>
            <a:off x="1024128" y="1463040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DRIVE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2E0942-9EC9-BC6C-C1F4-27D7FD279A8A}"/>
              </a:ext>
            </a:extLst>
          </p:cNvPr>
          <p:cNvSpPr txBox="1"/>
          <p:nvPr/>
        </p:nvSpPr>
        <p:spPr>
          <a:xfrm>
            <a:off x="1024128" y="1956816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Make a flit and put it on an input. Assert valid and wait for ready.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36424E-38CC-1A83-0266-893A2D38C3B0}"/>
              </a:ext>
            </a:extLst>
          </p:cNvPr>
          <p:cNvSpPr/>
          <p:nvPr/>
        </p:nvSpPr>
        <p:spPr>
          <a:xfrm>
            <a:off x="4389120" y="1298448"/>
            <a:ext cx="3401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3A4941-E542-CCD7-1F25-6090DC821262}"/>
              </a:ext>
            </a:extLst>
          </p:cNvPr>
          <p:cNvSpPr/>
          <p:nvPr/>
        </p:nvSpPr>
        <p:spPr>
          <a:xfrm>
            <a:off x="4480560" y="1463040"/>
            <a:ext cx="64008" cy="1362456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83655-FFB1-7E3D-0478-8CC8AC4EDBFF}"/>
              </a:ext>
            </a:extLst>
          </p:cNvPr>
          <p:cNvSpPr txBox="1"/>
          <p:nvPr/>
        </p:nvSpPr>
        <p:spPr>
          <a:xfrm>
            <a:off x="4663440" y="1463040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WAIT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3964C9-C8DF-C8DF-11F5-83BE2BFB79BC}"/>
              </a:ext>
            </a:extLst>
          </p:cNvPr>
          <p:cNvSpPr txBox="1"/>
          <p:nvPr/>
        </p:nvSpPr>
        <p:spPr>
          <a:xfrm>
            <a:off x="4663440" y="1956816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Watch ready/valid at clock edges. The router decides when a transfer happens.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6BA5F3-1D14-BD83-9623-43885DE6DC5E}"/>
              </a:ext>
            </a:extLst>
          </p:cNvPr>
          <p:cNvSpPr/>
          <p:nvPr/>
        </p:nvSpPr>
        <p:spPr>
          <a:xfrm>
            <a:off x="8028432" y="1298448"/>
            <a:ext cx="34015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E7EF7E-651D-5D57-FD23-C17F12F1D944}"/>
              </a:ext>
            </a:extLst>
          </p:cNvPr>
          <p:cNvSpPr/>
          <p:nvPr/>
        </p:nvSpPr>
        <p:spPr>
          <a:xfrm>
            <a:off x="8119872" y="1463040"/>
            <a:ext cx="64008" cy="1362456"/>
          </a:xfrm>
          <a:prstGeom prst="roundRect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90E5A-9A3A-E1BD-4019-74FE3827F46E}"/>
              </a:ext>
            </a:extLst>
          </p:cNvPr>
          <p:cNvSpPr txBox="1"/>
          <p:nvPr/>
        </p:nvSpPr>
        <p:spPr>
          <a:xfrm>
            <a:off x="8302752" y="1463040"/>
            <a:ext cx="294436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CHECK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E8E58-796A-39D1-B21C-F3C532DDD2EB}"/>
              </a:ext>
            </a:extLst>
          </p:cNvPr>
          <p:cNvSpPr txBox="1"/>
          <p:nvPr/>
        </p:nvSpPr>
        <p:spPr>
          <a:xfrm>
            <a:off x="8302752" y="1956816"/>
            <a:ext cx="28986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Compare the output port and the full flit with the expected result.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2AB74-AF17-DFB1-3567-FB52C35A8260}"/>
              </a:ext>
            </a:extLst>
          </p:cNvPr>
          <p:cNvSpPr txBox="1"/>
          <p:nvPr/>
        </p:nvSpPr>
        <p:spPr>
          <a:xfrm>
            <a:off x="868680" y="3429000"/>
            <a:ext cx="4572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20304A"/>
                </a:solidFill>
                <a:latin typeface="Aptos" panose="020B0004020202020204" pitchFamily="34" charset="0"/>
              </a:rPr>
              <a:t>Important testbench helpers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3C67AE-B922-0AAB-9C2C-9A6FBFDE2F0C}"/>
              </a:ext>
            </a:extLst>
          </p:cNvPr>
          <p:cNvSpPr/>
          <p:nvPr/>
        </p:nvSpPr>
        <p:spPr>
          <a:xfrm>
            <a:off x="868680" y="395020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3B58C7-BF5D-C8BD-E6E8-A305FD616740}"/>
              </a:ext>
            </a:extLst>
          </p:cNvPr>
          <p:cNvSpPr/>
          <p:nvPr/>
        </p:nvSpPr>
        <p:spPr>
          <a:xfrm>
            <a:off x="960120" y="4114800"/>
            <a:ext cx="64008" cy="996696"/>
          </a:xfrm>
          <a:prstGeom prst="roundRect">
            <a:avLst/>
          </a:prstGeom>
          <a:solidFill>
            <a:srgbClr val="377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25423B-87DA-4992-A609-E0DA84406327}"/>
              </a:ext>
            </a:extLst>
          </p:cNvPr>
          <p:cNvSpPr txBox="1"/>
          <p:nvPr/>
        </p:nvSpPr>
        <p:spPr>
          <a:xfrm>
            <a:off x="1143000" y="4114800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send_flit(source, flit)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9FDA2-CDB1-350A-DFD1-02EB35ED6F15}"/>
              </a:ext>
            </a:extLst>
          </p:cNvPr>
          <p:cNvSpPr txBox="1"/>
          <p:nvPr/>
        </p:nvSpPr>
        <p:spPr>
          <a:xfrm>
            <a:off x="1143000" y="4608576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Behaves like a polite sender: it keeps data valid until an input handshake.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425114-5436-8566-5EE0-5BBF263B7C0C}"/>
              </a:ext>
            </a:extLst>
          </p:cNvPr>
          <p:cNvSpPr/>
          <p:nvPr/>
        </p:nvSpPr>
        <p:spPr>
          <a:xfrm>
            <a:off x="6172200" y="395020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354297-DACC-FACC-1821-3B2CE6957CDF}"/>
              </a:ext>
            </a:extLst>
          </p:cNvPr>
          <p:cNvSpPr/>
          <p:nvPr/>
        </p:nvSpPr>
        <p:spPr>
          <a:xfrm>
            <a:off x="6263640" y="4114800"/>
            <a:ext cx="64008" cy="996696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4EBD12-2639-A70B-E817-9C6026BE4378}"/>
              </a:ext>
            </a:extLst>
          </p:cNvPr>
          <p:cNvSpPr txBox="1"/>
          <p:nvPr/>
        </p:nvSpPr>
        <p:spPr>
          <a:xfrm>
            <a:off x="6446520" y="4114800"/>
            <a:ext cx="4480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20304A"/>
                </a:solidFill>
                <a:latin typeface="Aptos" panose="020B0004020202020204" pitchFamily="34" charset="0"/>
              </a:rPr>
              <a:t>expect_transfer(dest, flit)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4C5E22-9691-0D1E-607F-4AAAC2407225}"/>
              </a:ext>
            </a:extLst>
          </p:cNvPr>
          <p:cNvSpPr txBox="1"/>
          <p:nvPr/>
        </p:nvSpPr>
        <p:spPr>
          <a:xfrm>
            <a:off x="6446520" y="4608576"/>
            <a:ext cx="4434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B82"/>
                </a:solidFill>
                <a:latin typeface="Aptos" panose="020B0004020202020204" pitchFamily="34" charset="0"/>
              </a:rPr>
              <a:t>Checks output valid, output data, receiver ready, and the transfer edge.</a:t>
            </a:r>
            <a:endParaRPr lang="en-IN" sz="15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CC539E-D10F-321A-4A5E-47DDB384CDFD}"/>
              </a:ext>
            </a:extLst>
          </p:cNvPr>
          <p:cNvSpPr txBox="1"/>
          <p:nvPr/>
        </p:nvSpPr>
        <p:spPr>
          <a:xfrm>
            <a:off x="868680" y="5650992"/>
            <a:ext cx="10515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If an expected value is wrong, $fatal prints FAIL and stops the run.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34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93F59A-8CAB-F86D-5272-5C32567168F0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CC39A-7277-F0D8-C162-3A27A41DA4FC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PASS / FAIL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99239-F2DB-5E1F-FC98-96599D23376A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What did our testbench verify?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F8D3DB-9A76-2C62-2228-3EDDFFDC8B6D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271140-E4C7-836A-5D95-BA3C9C83FF0D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DF0B1-60F4-F002-B21F-EB765A1735AF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18 / 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14CE75-D149-DD21-5B27-53687A3F0488}"/>
              </a:ext>
            </a:extLst>
          </p:cNvPr>
          <p:cNvSpPr/>
          <p:nvPr/>
        </p:nvSpPr>
        <p:spPr>
          <a:xfrm>
            <a:off x="841248" y="1261872"/>
            <a:ext cx="105156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3D3C1-8B30-DFE9-DF70-FFBCF708565B}"/>
              </a:ext>
            </a:extLst>
          </p:cNvPr>
          <p:cNvSpPr txBox="1"/>
          <p:nvPr/>
        </p:nvSpPr>
        <p:spPr>
          <a:xfrm>
            <a:off x="1051560" y="1389888"/>
            <a:ext cx="3840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EE216-4E85-895E-F309-C7904B4E1E94}"/>
              </a:ext>
            </a:extLst>
          </p:cNvPr>
          <p:cNvSpPr txBox="1"/>
          <p:nvPr/>
        </p:nvSpPr>
        <p:spPr>
          <a:xfrm>
            <a:off x="1664208" y="1389888"/>
            <a:ext cx="7818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20304A"/>
                </a:solidFill>
                <a:latin typeface="Aptos" panose="020B0004020202020204" pitchFamily="34" charset="0"/>
              </a:rPr>
              <a:t>Contention + stable grant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B641F8-5FEE-B5AA-9D67-D7F1F2A927A3}"/>
              </a:ext>
            </a:extLst>
          </p:cNvPr>
          <p:cNvSpPr/>
          <p:nvPr/>
        </p:nvSpPr>
        <p:spPr>
          <a:xfrm>
            <a:off x="9802368" y="1362456"/>
            <a:ext cx="1143000" cy="384048"/>
          </a:xfrm>
          <a:prstGeom prst="roundRect">
            <a:avLst/>
          </a:prstGeom>
          <a:solidFill>
            <a:srgbClr val="E1F3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D5E31-6124-24BC-8A86-982DF948C16F}"/>
              </a:ext>
            </a:extLst>
          </p:cNvPr>
          <p:cNvSpPr txBox="1"/>
          <p:nvPr/>
        </p:nvSpPr>
        <p:spPr>
          <a:xfrm>
            <a:off x="9802368" y="1399032"/>
            <a:ext cx="1143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7845A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9A65D7-7C86-4242-EA7F-A72E7D217F1C}"/>
              </a:ext>
            </a:extLst>
          </p:cNvPr>
          <p:cNvSpPr/>
          <p:nvPr/>
        </p:nvSpPr>
        <p:spPr>
          <a:xfrm>
            <a:off x="841248" y="2011680"/>
            <a:ext cx="105156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0B5AAD-8C62-6AE0-534C-8E76B3786169}"/>
              </a:ext>
            </a:extLst>
          </p:cNvPr>
          <p:cNvSpPr txBox="1"/>
          <p:nvPr/>
        </p:nvSpPr>
        <p:spPr>
          <a:xfrm>
            <a:off x="1051560" y="2139696"/>
            <a:ext cx="3840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D630C-15EA-C320-D31F-678CA237AD0B}"/>
              </a:ext>
            </a:extLst>
          </p:cNvPr>
          <p:cNvSpPr txBox="1"/>
          <p:nvPr/>
        </p:nvSpPr>
        <p:spPr>
          <a:xfrm>
            <a:off x="1664208" y="2139696"/>
            <a:ext cx="7818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304A"/>
                </a:solidFill>
                <a:latin typeface="Aptos" panose="020B0004020202020204" pitchFamily="34" charset="0"/>
              </a:rPr>
              <a:t>All five routes, including Local -&gt; East</a:t>
            </a:r>
            <a:endParaRPr lang="en-IN" sz="16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B6DB2F-0BF8-EFDA-E9E5-EB6F35DE42EF}"/>
              </a:ext>
            </a:extLst>
          </p:cNvPr>
          <p:cNvSpPr/>
          <p:nvPr/>
        </p:nvSpPr>
        <p:spPr>
          <a:xfrm>
            <a:off x="9802368" y="2112264"/>
            <a:ext cx="1143000" cy="384048"/>
          </a:xfrm>
          <a:prstGeom prst="roundRect">
            <a:avLst/>
          </a:prstGeom>
          <a:solidFill>
            <a:srgbClr val="E1F3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F5FC0-B0E9-97E6-800E-C4401659E995}"/>
              </a:ext>
            </a:extLst>
          </p:cNvPr>
          <p:cNvSpPr txBox="1"/>
          <p:nvPr/>
        </p:nvSpPr>
        <p:spPr>
          <a:xfrm>
            <a:off x="9802368" y="2148840"/>
            <a:ext cx="1143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7845A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B49495-C909-C818-41F0-4AA5ACCDC760}"/>
              </a:ext>
            </a:extLst>
          </p:cNvPr>
          <p:cNvSpPr/>
          <p:nvPr/>
        </p:nvSpPr>
        <p:spPr>
          <a:xfrm>
            <a:off x="841248" y="2761488"/>
            <a:ext cx="105156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62C841-431B-9738-7336-890AE649F0D5}"/>
              </a:ext>
            </a:extLst>
          </p:cNvPr>
          <p:cNvSpPr txBox="1"/>
          <p:nvPr/>
        </p:nvSpPr>
        <p:spPr>
          <a:xfrm>
            <a:off x="1051560" y="2889504"/>
            <a:ext cx="3840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0C74F-6A67-F8DB-756A-F0717E177119}"/>
              </a:ext>
            </a:extLst>
          </p:cNvPr>
          <p:cNvSpPr txBox="1"/>
          <p:nvPr/>
        </p:nvSpPr>
        <p:spPr>
          <a:xfrm>
            <a:off x="1664208" y="2889504"/>
            <a:ext cx="7818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304A"/>
                </a:solidFill>
                <a:latin typeface="Aptos" panose="020B0004020202020204" pitchFamily="34" charset="0"/>
              </a:rPr>
              <a:t>Two separate outputs at once</a:t>
            </a:r>
            <a:endParaRPr lang="en-IN" sz="16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C90303-4816-9175-FB07-BA1AE485CAB1}"/>
              </a:ext>
            </a:extLst>
          </p:cNvPr>
          <p:cNvSpPr/>
          <p:nvPr/>
        </p:nvSpPr>
        <p:spPr>
          <a:xfrm>
            <a:off x="9802368" y="2862072"/>
            <a:ext cx="1143000" cy="384048"/>
          </a:xfrm>
          <a:prstGeom prst="roundRect">
            <a:avLst/>
          </a:prstGeom>
          <a:solidFill>
            <a:srgbClr val="E1F3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19BF8-DF32-195F-EEF5-BA7D916CA929}"/>
              </a:ext>
            </a:extLst>
          </p:cNvPr>
          <p:cNvSpPr txBox="1"/>
          <p:nvPr/>
        </p:nvSpPr>
        <p:spPr>
          <a:xfrm>
            <a:off x="9802368" y="2898648"/>
            <a:ext cx="1143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7845A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643C69-AD3B-3624-CF11-F714E4C66C7F}"/>
              </a:ext>
            </a:extLst>
          </p:cNvPr>
          <p:cNvSpPr/>
          <p:nvPr/>
        </p:nvSpPr>
        <p:spPr>
          <a:xfrm>
            <a:off x="841248" y="3511296"/>
            <a:ext cx="105156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829F7-CD08-96E8-88A2-36989F97C05B}"/>
              </a:ext>
            </a:extLst>
          </p:cNvPr>
          <p:cNvSpPr txBox="1"/>
          <p:nvPr/>
        </p:nvSpPr>
        <p:spPr>
          <a:xfrm>
            <a:off x="1051560" y="3639312"/>
            <a:ext cx="3840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3514AC-D8C5-0EAF-C07A-2EF13A8A18A2}"/>
              </a:ext>
            </a:extLst>
          </p:cNvPr>
          <p:cNvSpPr txBox="1"/>
          <p:nvPr/>
        </p:nvSpPr>
        <p:spPr>
          <a:xfrm>
            <a:off x="1664208" y="3639312"/>
            <a:ext cx="7818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20304A"/>
                </a:solidFill>
                <a:latin typeface="Aptos" panose="020B0004020202020204" pitchFamily="34" charset="0"/>
              </a:rPr>
              <a:t>Backpressure + four-entry FIFO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D76DAF-BE1D-8669-B2ED-80BB6CDF7B8A}"/>
              </a:ext>
            </a:extLst>
          </p:cNvPr>
          <p:cNvSpPr/>
          <p:nvPr/>
        </p:nvSpPr>
        <p:spPr>
          <a:xfrm>
            <a:off x="9802368" y="3611880"/>
            <a:ext cx="1143000" cy="384048"/>
          </a:xfrm>
          <a:prstGeom prst="roundRect">
            <a:avLst/>
          </a:prstGeom>
          <a:solidFill>
            <a:srgbClr val="E1F3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334636-F2AA-9C5F-3B99-5BD245DB0898}"/>
              </a:ext>
            </a:extLst>
          </p:cNvPr>
          <p:cNvSpPr txBox="1"/>
          <p:nvPr/>
        </p:nvSpPr>
        <p:spPr>
          <a:xfrm>
            <a:off x="9802368" y="3648456"/>
            <a:ext cx="1143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7845A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D24232-6A9C-8D02-B05D-0462A943A26E}"/>
              </a:ext>
            </a:extLst>
          </p:cNvPr>
          <p:cNvSpPr/>
          <p:nvPr/>
        </p:nvSpPr>
        <p:spPr>
          <a:xfrm>
            <a:off x="841248" y="4261104"/>
            <a:ext cx="105156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AB9431-E576-724C-EF89-9990491ADB00}"/>
              </a:ext>
            </a:extLst>
          </p:cNvPr>
          <p:cNvSpPr txBox="1"/>
          <p:nvPr/>
        </p:nvSpPr>
        <p:spPr>
          <a:xfrm>
            <a:off x="1051560" y="4389120"/>
            <a:ext cx="384048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377D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1E90E-30CA-2500-430D-A5F9149CD9DF}"/>
              </a:ext>
            </a:extLst>
          </p:cNvPr>
          <p:cNvSpPr txBox="1"/>
          <p:nvPr/>
        </p:nvSpPr>
        <p:spPr>
          <a:xfrm>
            <a:off x="1664208" y="4389120"/>
            <a:ext cx="78181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304A"/>
                </a:solidFill>
                <a:latin typeface="Aptos" panose="020B0004020202020204" pitchFamily="34" charset="0"/>
              </a:rPr>
              <a:t>Invalid destination is dropped/reported</a:t>
            </a:r>
            <a:endParaRPr lang="en-IN" sz="16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E99DD15-A7DD-D137-9DCE-D2C29EA6EE99}"/>
              </a:ext>
            </a:extLst>
          </p:cNvPr>
          <p:cNvSpPr/>
          <p:nvPr/>
        </p:nvSpPr>
        <p:spPr>
          <a:xfrm>
            <a:off x="9802368" y="4361688"/>
            <a:ext cx="1143000" cy="384048"/>
          </a:xfrm>
          <a:prstGeom prst="roundRect">
            <a:avLst/>
          </a:prstGeom>
          <a:solidFill>
            <a:srgbClr val="E1F3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5470AF-15AB-40A7-C16C-93077DA0C7AA}"/>
              </a:ext>
            </a:extLst>
          </p:cNvPr>
          <p:cNvSpPr txBox="1"/>
          <p:nvPr/>
        </p:nvSpPr>
        <p:spPr>
          <a:xfrm>
            <a:off x="9802368" y="4398264"/>
            <a:ext cx="1143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 b="1">
                <a:solidFill>
                  <a:srgbClr val="27845A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078243-C09B-3A8E-9E50-D3042907384C}"/>
              </a:ext>
            </a:extLst>
          </p:cNvPr>
          <p:cNvSpPr/>
          <p:nvPr/>
        </p:nvSpPr>
        <p:spPr>
          <a:xfrm>
            <a:off x="868680" y="5321808"/>
            <a:ext cx="10469881" cy="59436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5642C4-EA13-855E-C347-99308A1BB96F}"/>
              </a:ext>
            </a:extLst>
          </p:cNvPr>
          <p:cNvSpPr txBox="1"/>
          <p:nvPr/>
        </p:nvSpPr>
        <p:spPr>
          <a:xfrm>
            <a:off x="1024128" y="5477256"/>
            <a:ext cx="101498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ALL TESTS PASSED  |  15 checked transfers / conditions</a:t>
            </a:r>
            <a:endParaRPr lang="en-IN" sz="1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931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95087-945B-ED4F-7E90-59D667C8BECB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F858D-CC29-161F-6C36-CECC59535D65}"/>
              </a:ext>
            </a:extLst>
          </p:cNvPr>
          <p:cNvSpPr txBox="1"/>
          <p:nvPr/>
        </p:nvSpPr>
        <p:spPr>
          <a:xfrm>
            <a:off x="502920" y="118872"/>
            <a:ext cx="22860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00A99D"/>
                </a:solidFill>
                <a:latin typeface="Aptos" panose="020B0004020202020204" pitchFamily="34" charset="0"/>
              </a:rPr>
              <a:t>WRAP-UP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2F5AB-8B3B-0A61-DAFA-D939DAA4A0BE}"/>
              </a:ext>
            </a:extLst>
          </p:cNvPr>
          <p:cNvSpPr txBox="1"/>
          <p:nvPr/>
        </p:nvSpPr>
        <p:spPr>
          <a:xfrm>
            <a:off x="502920" y="329184"/>
            <a:ext cx="1106424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Run it yourself, then remember the journey</a:t>
            </a:r>
            <a:endParaRPr lang="en-IN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234B09-A6DC-7E5A-B7E7-365580F1236A}"/>
              </a:ext>
            </a:extLst>
          </p:cNvPr>
          <p:cNvCxnSpPr/>
          <p:nvPr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ACC451-EA90-E5BE-95E0-6AAF947237E6}"/>
              </a:ext>
            </a:extLst>
          </p:cNvPr>
          <p:cNvSpPr txBox="1"/>
          <p:nvPr/>
        </p:nvSpPr>
        <p:spPr>
          <a:xfrm>
            <a:off x="502920" y="6519672"/>
            <a:ext cx="676656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5D6B82"/>
                </a:solidFill>
                <a:latin typeface="Aptos" panose="020B0004020202020204" pitchFamily="34" charset="0"/>
              </a:rPr>
              <a:t>FIVE-PORT NoC ROUTER  |  BEGINNER WALKTHROUGH</a:t>
            </a:r>
            <a:endParaRPr lang="en-IN" sz="9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E7131-3E04-D106-0257-5F3FC1D5AEB3}"/>
              </a:ext>
            </a:extLst>
          </p:cNvPr>
          <p:cNvSpPr txBox="1"/>
          <p:nvPr/>
        </p:nvSpPr>
        <p:spPr>
          <a:xfrm>
            <a:off x="10881360" y="6510528"/>
            <a:ext cx="7315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>
                <a:solidFill>
                  <a:srgbClr val="5D6B82"/>
                </a:solidFill>
                <a:latin typeface="Aptos" panose="020B0004020202020204" pitchFamily="34" charset="0"/>
              </a:rPr>
              <a:t>19 / 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60C5A-0F44-9C53-0C8A-59168E306544}"/>
              </a:ext>
            </a:extLst>
          </p:cNvPr>
          <p:cNvSpPr txBox="1"/>
          <p:nvPr/>
        </p:nvSpPr>
        <p:spPr>
          <a:xfrm>
            <a:off x="822960" y="1170432"/>
            <a:ext cx="1051560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800" b="1">
                <a:solidFill>
                  <a:srgbClr val="20304A"/>
                </a:solidFill>
                <a:latin typeface="Aptos" panose="020B0004020202020204" pitchFamily="34" charset="0"/>
              </a:rPr>
              <a:t>From the repository folder in PowerShell:</a:t>
            </a:r>
            <a:endParaRPr lang="en-IN" sz="18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2E366B-D32A-E62E-ADA7-0557B6A08FDE}"/>
              </a:ext>
            </a:extLst>
          </p:cNvPr>
          <p:cNvSpPr/>
          <p:nvPr/>
        </p:nvSpPr>
        <p:spPr>
          <a:xfrm>
            <a:off x="804672" y="1664208"/>
            <a:ext cx="10588752" cy="1097280"/>
          </a:xfrm>
          <a:prstGeom prst="roundRect">
            <a:avLst/>
          </a:prstGeom>
          <a:solidFill>
            <a:srgbClr val="0B1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810F2-45BB-D304-4E1B-2E5774DDFC5A}"/>
              </a:ext>
            </a:extLst>
          </p:cNvPr>
          <p:cNvSpPr txBox="1"/>
          <p:nvPr/>
        </p:nvSpPr>
        <p:spPr>
          <a:xfrm>
            <a:off x="1024128" y="1847088"/>
            <a:ext cx="10131552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>
                <a:solidFill>
                  <a:srgbClr val="FFFFFF"/>
                </a:solidFill>
                <a:latin typeface="Consolas" panose="020B0609020204030204" pitchFamily="49" charset="0"/>
              </a:rPr>
              <a:t>iverilog -g2012 -s router_5port_tb -o router_5port_test rtl\noc_pkg.sv rtl\fifo.sv rtl\input_buffer.sv rtl\round_robin_arbiter.sv rtl\switch_allocator.sv rtl\crossbar.sv rtl\router_5port.sv rtl\router_5port_tb.sv</a:t>
            </a:r>
          </a:p>
          <a:p>
            <a:r>
              <a:rPr lang="en-IN" sz="1200">
                <a:solidFill>
                  <a:srgbClr val="FFFFFF"/>
                </a:solidFill>
                <a:latin typeface="Consolas" panose="020B0609020204030204" pitchFamily="49" charset="0"/>
              </a:rPr>
              <a:t>vvp router_5port_test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A40D5-45AB-C0AB-FE91-D9E65B630682}"/>
              </a:ext>
            </a:extLst>
          </p:cNvPr>
          <p:cNvSpPr txBox="1"/>
          <p:nvPr/>
        </p:nvSpPr>
        <p:spPr>
          <a:xfrm>
            <a:off x="841248" y="2999232"/>
            <a:ext cx="1046988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B82"/>
                </a:solidFill>
                <a:latin typeface="Aptos" panose="020B0004020202020204" pitchFamily="34" charset="0"/>
              </a:rPr>
              <a:t>Look for ALL TESTS PASSED. A FAIL message identifies the check that stopped.</a:t>
            </a:r>
            <a:endParaRPr lang="en-IN" sz="1600">
              <a:solidFill>
                <a:srgbClr val="5D6B8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74B460-F219-A4FB-1DB9-B04B7F10E3C7}"/>
              </a:ext>
            </a:extLst>
          </p:cNvPr>
          <p:cNvSpPr/>
          <p:nvPr/>
        </p:nvSpPr>
        <p:spPr>
          <a:xfrm>
            <a:off x="822960" y="3703320"/>
            <a:ext cx="10515600" cy="1005840"/>
          </a:xfrm>
          <a:prstGeom prst="roundRect">
            <a:avLst/>
          </a:prstGeom>
          <a:solidFill>
            <a:srgbClr val="E1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C46EF-5ABD-C381-49F3-CB8DD7A52493}"/>
              </a:ext>
            </a:extLst>
          </p:cNvPr>
          <p:cNvSpPr txBox="1"/>
          <p:nvPr/>
        </p:nvSpPr>
        <p:spPr>
          <a:xfrm>
            <a:off x="1024128" y="3968496"/>
            <a:ext cx="10113264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b="1">
                <a:solidFill>
                  <a:srgbClr val="20304A"/>
                </a:solidFill>
                <a:latin typeface="Aptos" panose="020B0004020202020204" pitchFamily="34" charset="0"/>
              </a:rPr>
              <a:t>SENDER  -&gt;  INPUT FIFO  -&gt;  DESTINATION DECODE  -&gt;  ARBITER  -&gt;  CROSSBAR  -&gt;  RECEIVER</a:t>
            </a:r>
            <a:endParaRPr lang="en-IN" sz="1700" b="1">
              <a:solidFill>
                <a:srgbClr val="20304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A7976-3133-4E97-00D6-29A4E2AAF5DC}"/>
              </a:ext>
            </a:extLst>
          </p:cNvPr>
          <p:cNvSpPr txBox="1"/>
          <p:nvPr/>
        </p:nvSpPr>
        <p:spPr>
          <a:xfrm>
            <a:off x="896112" y="5074920"/>
            <a:ext cx="10332720" cy="216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000" b="1">
                <a:solidFill>
                  <a:srgbClr val="0B1733"/>
                </a:solidFill>
                <a:latin typeface="Aptos" panose="020B0004020202020204" pitchFamily="34" charset="0"/>
              </a:rPr>
              <a:t>That is the whole router story: queue it, choose a fair path, and deliver it without changing the flit.</a:t>
            </a:r>
            <a:endParaRPr lang="en-IN" sz="2000" b="1">
              <a:solidFill>
                <a:srgbClr val="0B173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43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1781</Words>
  <Application>Microsoft Office PowerPoint</Application>
  <PresentationFormat>Custom</PresentationFormat>
  <Paragraphs>277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khan</dc:creator>
  <cp:lastModifiedBy>ali khan</cp:lastModifiedBy>
  <cp:revision>1</cp:revision>
  <dcterms:created xsi:type="dcterms:W3CDTF">2026-10-03T09:55:34Z</dcterms:created>
  <dcterms:modified xsi:type="dcterms:W3CDTF">2026-10-03T09:55:34Z</dcterms:modified>
</cp:coreProperties>
</file>